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66" r:id="rId5"/>
    <p:sldId id="259" r:id="rId6"/>
    <p:sldId id="260" r:id="rId7"/>
    <p:sldId id="261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9E3C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1189" autoAdjust="0"/>
    <p:restoredTop sz="94660"/>
  </p:normalViewPr>
  <p:slideViewPr>
    <p:cSldViewPr snapToGrid="0">
      <p:cViewPr varScale="1">
        <p:scale>
          <a:sx n="75" d="100"/>
          <a:sy n="75" d="100"/>
        </p:scale>
        <p:origin x="84" y="6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7171764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83020582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6497344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5633495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3637952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86855385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03362528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83565453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26046948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60568069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1124868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>
            <a:extLst>
              <a:ext uri="{FF2B5EF4-FFF2-40B4-BE49-F238E27FC236}">
                <a16:creationId xmlns="" xmlns:a16="http://schemas.microsoft.com/office/drawing/2014/main" id="{12B49076-AA74-4A46-A3C5-94670FAEC198}"/>
              </a:ext>
            </a:extLst>
          </p:cNvPr>
          <p:cNvSpPr>
            <a:spLocks noGrp="1"/>
          </p:cNvSpPr>
          <p:nvPr/>
        </p:nvSpPr>
        <p:spPr>
          <a:xfrm>
            <a:off x="2222500" y="844550"/>
            <a:ext cx="47625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4350" b="1">
                <a:solidFill>
                  <a:srgbClr val="F3F7FF"/>
                </a:solidFill>
              </a:defRPr>
            </a:pPr>
            <a:r>
              <a:rPr sz="4350" b="1">
                <a:solidFill>
                  <a:srgbClr val="F3F7FF"/>
                </a:solidFill>
              </a:rPr>
              <a:t>DivvyPay</a:t>
            </a:r>
          </a:p>
        </p:txBody>
      </p:sp>
      <p:sp>
        <p:nvSpPr>
          <p:cNvPr id="6" name="矩形 5">
            <a:extLst>
              <a:ext uri="{FF2B5EF4-FFF2-40B4-BE49-F238E27FC236}">
                <a16:creationId xmlns="" xmlns:a16="http://schemas.microsoft.com/office/drawing/2014/main" id="{87F21AB5-F493-48CB-87F2-A5A5A98AC578}"/>
              </a:ext>
            </a:extLst>
          </p:cNvPr>
          <p:cNvSpPr>
            <a:spLocks noGrp="1"/>
          </p:cNvSpPr>
          <p:nvPr/>
        </p:nvSpPr>
        <p:spPr>
          <a:xfrm>
            <a:off x="2241550" y="1606550"/>
            <a:ext cx="7239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950" b="0">
                <a:solidFill>
                  <a:srgbClr val="9FB2D8"/>
                </a:solidFill>
              </a:defRPr>
            </a:pPr>
            <a:r>
              <a:rPr sz="1950" b="0" dirty="0">
                <a:solidFill>
                  <a:srgbClr val="9FB2D8"/>
                </a:solidFill>
              </a:rPr>
              <a:t>One transaction for batch payout and proportional split on GIWA</a:t>
            </a:r>
          </a:p>
        </p:txBody>
      </p:sp>
      <p:sp>
        <p:nvSpPr>
          <p:cNvPr id="7" name="圆角矩形 6">
            <a:extLst>
              <a:ext uri="{FF2B5EF4-FFF2-40B4-BE49-F238E27FC236}">
                <a16:creationId xmlns="" xmlns:a16="http://schemas.microsoft.com/office/drawing/2014/main" id="{EBFE7477-A70C-4EBA-8A69-3DBC68AF6E92}"/>
              </a:ext>
            </a:extLst>
          </p:cNvPr>
          <p:cNvSpPr>
            <a:spLocks noGrp="1"/>
          </p:cNvSpPr>
          <p:nvPr/>
        </p:nvSpPr>
        <p:spPr>
          <a:xfrm>
            <a:off x="2317750" y="2120900"/>
            <a:ext cx="3048000" cy="323850"/>
          </a:xfrm>
          <a:prstGeom prst="roundRect">
            <a:avLst>
              <a:gd name="adj" fmla="val 50000"/>
            </a:avLst>
          </a:prstGeom>
          <a:solidFill>
            <a:srgbClr val="19E3C2">
              <a:alpha val="13333"/>
            </a:srgbClr>
          </a:solidFill>
          <a:ln w="9525">
            <a:solidFill>
              <a:srgbClr val="19E3C2">
                <a:alpha val="46667"/>
              </a:srgbClr>
            </a:solidFill>
            <a:prstDash val="solid"/>
          </a:ln>
        </p:spPr>
      </p:sp>
      <p:sp>
        <p:nvSpPr>
          <p:cNvPr id="8" name="矩形 7">
            <a:extLst>
              <a:ext uri="{FF2B5EF4-FFF2-40B4-BE49-F238E27FC236}">
                <a16:creationId xmlns="" xmlns:a16="http://schemas.microsoft.com/office/drawing/2014/main" id="{FDB56F25-20A2-4AFF-9BA8-1242221B34E9}"/>
              </a:ext>
            </a:extLst>
          </p:cNvPr>
          <p:cNvSpPr>
            <a:spLocks noGrp="1"/>
          </p:cNvSpPr>
          <p:nvPr/>
        </p:nvSpPr>
        <p:spPr>
          <a:xfrm>
            <a:off x="2851150" y="2149475"/>
            <a:ext cx="27432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19E3C2"/>
                </a:solidFill>
              </a:defRPr>
            </a:pPr>
            <a:r>
              <a:rPr sz="1050" b="1" dirty="0" err="1">
                <a:solidFill>
                  <a:srgbClr val="19E3C2"/>
                </a:solidFill>
              </a:rPr>
              <a:t>Stablecoin</a:t>
            </a:r>
            <a:r>
              <a:rPr sz="1050" b="1" dirty="0">
                <a:solidFill>
                  <a:srgbClr val="19E3C2"/>
                </a:solidFill>
              </a:rPr>
              <a:t> Payout Workspace</a:t>
            </a:r>
          </a:p>
        </p:txBody>
      </p:sp>
      <p:sp>
        <p:nvSpPr>
          <p:cNvPr id="9" name="矩形 8">
            <a:extLst>
              <a:ext uri="{FF2B5EF4-FFF2-40B4-BE49-F238E27FC236}">
                <a16:creationId xmlns="" xmlns:a16="http://schemas.microsoft.com/office/drawing/2014/main" id="{606C3052-F7F2-4FB5-A77B-D641260FDCF9}"/>
              </a:ext>
            </a:extLst>
          </p:cNvPr>
          <p:cNvSpPr>
            <a:spLocks noGrp="1"/>
          </p:cNvSpPr>
          <p:nvPr/>
        </p:nvSpPr>
        <p:spPr>
          <a:xfrm>
            <a:off x="742950" y="4095750"/>
            <a:ext cx="1143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19E3C2"/>
                </a:solidFill>
              </a:defRPr>
            </a:pPr>
            <a:r>
              <a:rPr sz="1350" b="1">
                <a:solidFill>
                  <a:srgbClr val="19E3C2"/>
                </a:solidFill>
              </a:rPr>
              <a:t>Demo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="" xmlns:a16="http://schemas.microsoft.com/office/drawing/2014/main" id="{42DA2FCC-D333-43E9-85C0-C7F86AF26985}"/>
              </a:ext>
            </a:extLst>
          </p:cNvPr>
          <p:cNvSpPr>
            <a:spLocks noGrp="1"/>
          </p:cNvSpPr>
          <p:nvPr/>
        </p:nvSpPr>
        <p:spPr>
          <a:xfrm>
            <a:off x="742950" y="4400550"/>
            <a:ext cx="7239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0">
                <a:solidFill>
                  <a:srgbClr val="F3F7FF"/>
                </a:solidFill>
              </a:defRPr>
            </a:pPr>
            <a:r>
              <a:rPr sz="1650" b="0">
                <a:solidFill>
                  <a:srgbClr val="F3F7FF"/>
                </a:solidFill>
              </a:rPr>
              <a:t>https://effortless-sorbet-3812f8.netlify.app/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="" xmlns:a16="http://schemas.microsoft.com/office/drawing/2014/main" id="{BA145A4E-3F4A-424D-880E-C6414276F54D}"/>
              </a:ext>
            </a:extLst>
          </p:cNvPr>
          <p:cNvSpPr>
            <a:spLocks noGrp="1"/>
          </p:cNvSpPr>
          <p:nvPr/>
        </p:nvSpPr>
        <p:spPr>
          <a:xfrm>
            <a:off x="742950" y="4953000"/>
            <a:ext cx="1143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19E3C2"/>
                </a:solidFill>
              </a:defRPr>
            </a:pPr>
            <a:r>
              <a:rPr sz="1350" b="1">
                <a:solidFill>
                  <a:srgbClr val="19E3C2"/>
                </a:solidFill>
              </a:rPr>
              <a:t>GitHub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="" xmlns:a16="http://schemas.microsoft.com/office/drawing/2014/main" id="{EB7C837B-2733-4930-A583-99AC1CA85316}"/>
              </a:ext>
            </a:extLst>
          </p:cNvPr>
          <p:cNvSpPr>
            <a:spLocks noGrp="1"/>
          </p:cNvSpPr>
          <p:nvPr/>
        </p:nvSpPr>
        <p:spPr>
          <a:xfrm>
            <a:off x="742950" y="5257800"/>
            <a:ext cx="7239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0">
                <a:solidFill>
                  <a:srgbClr val="F3F7FF"/>
                </a:solidFill>
              </a:defRPr>
            </a:pPr>
            <a:r>
              <a:rPr sz="1650" b="0">
                <a:solidFill>
                  <a:srgbClr val="F3F7FF"/>
                </a:solidFill>
              </a:rPr>
              <a:t>https://github.com/dinhtien-crypto/DivvyPay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="" xmlns:a16="http://schemas.microsoft.com/office/drawing/2014/main" id="{2CF76AB6-D70E-4A45-B4A2-1F6B44C0759B}"/>
              </a:ext>
            </a:extLst>
          </p:cNvPr>
          <p:cNvSpPr>
            <a:spLocks noGrp="1"/>
          </p:cNvSpPr>
          <p:nvPr/>
        </p:nvSpPr>
        <p:spPr>
          <a:xfrm>
            <a:off x="9239250" y="5810250"/>
            <a:ext cx="2095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0">
                <a:solidFill>
                  <a:srgbClr val="9FB2D8"/>
                </a:solidFill>
              </a:defRPr>
            </a:pPr>
            <a:r>
              <a:rPr sz="1500" b="0">
                <a:solidFill>
                  <a:srgbClr val="9FB2D8"/>
                </a:solidFill>
              </a:rPr>
              <a:t>Team: DivvyPay</a:t>
            </a:r>
          </a:p>
        </p:txBody>
      </p:sp>
      <p:pic>
        <p:nvPicPr>
          <p:cNvPr id="15" name="图片 1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0700" y="1043918"/>
            <a:ext cx="1473200" cy="14008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54724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矩形 15">
            <a:extLst>
              <a:ext uri="{FF2B5EF4-FFF2-40B4-BE49-F238E27FC236}">
                <a16:creationId xmlns="" xmlns:a16="http://schemas.microsoft.com/office/drawing/2014/main" id="{CA02519D-A139-4F22-8C9E-FA90B65AD447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3429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>
                <a:solidFill>
                  <a:srgbClr val="19E3C2"/>
                </a:solidFill>
              </a:defRPr>
            </a:pPr>
            <a:r>
              <a:rPr sz="975" b="1">
                <a:solidFill>
                  <a:srgbClr val="19E3C2"/>
                </a:solidFill>
              </a:rPr>
              <a:t>DIVVYPAY</a:t>
            </a:r>
          </a:p>
        </p:txBody>
      </p:sp>
      <p:sp>
        <p:nvSpPr>
          <p:cNvPr id="2" name="矩形 1">
            <a:extLst>
              <a:ext uri="{FF2B5EF4-FFF2-40B4-BE49-F238E27FC236}">
                <a16:creationId xmlns="" xmlns:a16="http://schemas.microsoft.com/office/drawing/2014/main" id="{AE5687DA-7B74-47FF-A1E1-B45EFB47B09B}"/>
              </a:ext>
            </a:extLst>
          </p:cNvPr>
          <p:cNvSpPr>
            <a:spLocks noGrp="1"/>
          </p:cNvSpPr>
          <p:nvPr/>
        </p:nvSpPr>
        <p:spPr>
          <a:xfrm>
            <a:off x="609600" y="685800"/>
            <a:ext cx="80010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850" b="1">
                <a:solidFill>
                  <a:srgbClr val="F3F7FF"/>
                </a:solidFill>
              </a:defRPr>
            </a:pPr>
            <a:r>
              <a:rPr sz="2850" b="1" dirty="0">
                <a:solidFill>
                  <a:srgbClr val="F3F7FF"/>
                </a:solidFill>
              </a:rPr>
              <a:t>Multi-recipient payments are still too manual</a:t>
            </a:r>
          </a:p>
        </p:txBody>
      </p:sp>
      <p:sp>
        <p:nvSpPr>
          <p:cNvPr id="3" name="圆角矩形 2">
            <a:extLst>
              <a:ext uri="{FF2B5EF4-FFF2-40B4-BE49-F238E27FC236}">
                <a16:creationId xmlns="" xmlns:a16="http://schemas.microsoft.com/office/drawing/2014/main" id="{DE298C7E-BB24-45C4-B201-D07EEE0010D1}"/>
              </a:ext>
            </a:extLst>
          </p:cNvPr>
          <p:cNvSpPr>
            <a:spLocks noGrp="1"/>
          </p:cNvSpPr>
          <p:nvPr/>
        </p:nvSpPr>
        <p:spPr>
          <a:xfrm>
            <a:off x="800100" y="2095500"/>
            <a:ext cx="3143250" cy="2476500"/>
          </a:xfrm>
          <a:prstGeom prst="roundRect">
            <a:avLst>
              <a:gd name="adj" fmla="val 3077"/>
            </a:avLst>
          </a:prstGeom>
          <a:solidFill>
            <a:srgbClr val="111827"/>
          </a:solidFill>
          <a:ln w="9525">
            <a:solidFill>
              <a:srgbClr val="2B3A5E"/>
            </a:solidFill>
            <a:prstDash val="solid"/>
          </a:ln>
        </p:spPr>
      </p:sp>
      <p:sp>
        <p:nvSpPr>
          <p:cNvPr id="4" name="矩形 3">
            <a:extLst>
              <a:ext uri="{FF2B5EF4-FFF2-40B4-BE49-F238E27FC236}">
                <a16:creationId xmlns="" xmlns:a16="http://schemas.microsoft.com/office/drawing/2014/main" id="{694AAF19-E719-4A53-A0FE-1F5D633D008C}"/>
              </a:ext>
            </a:extLst>
          </p:cNvPr>
          <p:cNvSpPr>
            <a:spLocks noGrp="1"/>
          </p:cNvSpPr>
          <p:nvPr/>
        </p:nvSpPr>
        <p:spPr>
          <a:xfrm>
            <a:off x="1066800" y="2324100"/>
            <a:ext cx="5715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3150" b="1">
                <a:solidFill>
                  <a:srgbClr val="19E3C2"/>
                </a:solidFill>
              </a:defRPr>
            </a:pPr>
            <a:r>
              <a:rPr sz="3150" b="1">
                <a:solidFill>
                  <a:srgbClr val="19E3C2"/>
                </a:solidFill>
              </a:rPr>
              <a:t>1</a:t>
            </a:r>
          </a:p>
        </p:txBody>
      </p:sp>
      <p:sp>
        <p:nvSpPr>
          <p:cNvPr id="5" name="矩形 4">
            <a:extLst>
              <a:ext uri="{FF2B5EF4-FFF2-40B4-BE49-F238E27FC236}">
                <a16:creationId xmlns="" xmlns:a16="http://schemas.microsoft.com/office/drawing/2014/main" id="{0A5840B2-6C07-4333-83D6-AF7E8B989717}"/>
              </a:ext>
            </a:extLst>
          </p:cNvPr>
          <p:cNvSpPr>
            <a:spLocks noGrp="1"/>
          </p:cNvSpPr>
          <p:nvPr/>
        </p:nvSpPr>
        <p:spPr>
          <a:xfrm>
            <a:off x="1066800" y="3067050"/>
            <a:ext cx="2476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950" b="1">
                <a:solidFill>
                  <a:srgbClr val="F3F7FF"/>
                </a:solidFill>
              </a:defRPr>
            </a:pPr>
            <a:r>
              <a:rPr sz="1950" b="1">
                <a:solidFill>
                  <a:srgbClr val="F3F7FF"/>
                </a:solidFill>
              </a:rPr>
              <a:t>One-by-one payouts</a:t>
            </a:r>
          </a:p>
        </p:txBody>
      </p:sp>
      <p:sp>
        <p:nvSpPr>
          <p:cNvPr id="6" name="矩形 5">
            <a:extLst>
              <a:ext uri="{FF2B5EF4-FFF2-40B4-BE49-F238E27FC236}">
                <a16:creationId xmlns="" xmlns:a16="http://schemas.microsoft.com/office/drawing/2014/main" id="{89116CF1-1BDE-420F-9596-F63ED72AB126}"/>
              </a:ext>
            </a:extLst>
          </p:cNvPr>
          <p:cNvSpPr>
            <a:spLocks noGrp="1"/>
          </p:cNvSpPr>
          <p:nvPr/>
        </p:nvSpPr>
        <p:spPr>
          <a:xfrm>
            <a:off x="1066800" y="3562350"/>
            <a:ext cx="2476500" cy="800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9FB2D8"/>
                </a:solidFill>
              </a:defRPr>
            </a:pPr>
            <a:r>
              <a:rPr sz="1350" b="0">
                <a:solidFill>
                  <a:srgbClr val="9FB2D8"/>
                </a:solidFill>
              </a:rPr>
              <a:t>Rewards, payroll, and bounties require repeated wallet transactions.</a:t>
            </a:r>
          </a:p>
        </p:txBody>
      </p:sp>
      <p:sp>
        <p:nvSpPr>
          <p:cNvPr id="7" name="圆角矩形 6">
            <a:extLst>
              <a:ext uri="{FF2B5EF4-FFF2-40B4-BE49-F238E27FC236}">
                <a16:creationId xmlns="" xmlns:a16="http://schemas.microsoft.com/office/drawing/2014/main" id="{D4568660-6EF5-4C8E-9CEE-42324CE5D870}"/>
              </a:ext>
            </a:extLst>
          </p:cNvPr>
          <p:cNvSpPr>
            <a:spLocks noGrp="1"/>
          </p:cNvSpPr>
          <p:nvPr/>
        </p:nvSpPr>
        <p:spPr>
          <a:xfrm>
            <a:off x="4514850" y="2095500"/>
            <a:ext cx="3143250" cy="2476500"/>
          </a:xfrm>
          <a:prstGeom prst="roundRect">
            <a:avLst>
              <a:gd name="adj" fmla="val 3077"/>
            </a:avLst>
          </a:prstGeom>
          <a:solidFill>
            <a:srgbClr val="111827"/>
          </a:solidFill>
          <a:ln w="9525">
            <a:solidFill>
              <a:srgbClr val="2B3A5E"/>
            </a:solidFill>
            <a:prstDash val="solid"/>
          </a:ln>
        </p:spPr>
      </p:sp>
      <p:sp>
        <p:nvSpPr>
          <p:cNvPr id="8" name="矩形 7">
            <a:extLst>
              <a:ext uri="{FF2B5EF4-FFF2-40B4-BE49-F238E27FC236}">
                <a16:creationId xmlns="" xmlns:a16="http://schemas.microsoft.com/office/drawing/2014/main" id="{584B89F1-07CE-4CB1-80D4-58901879DCB8}"/>
              </a:ext>
            </a:extLst>
          </p:cNvPr>
          <p:cNvSpPr>
            <a:spLocks noGrp="1"/>
          </p:cNvSpPr>
          <p:nvPr/>
        </p:nvSpPr>
        <p:spPr>
          <a:xfrm>
            <a:off x="4781550" y="2324100"/>
            <a:ext cx="5715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3150" b="1">
                <a:solidFill>
                  <a:srgbClr val="19E3C2"/>
                </a:solidFill>
              </a:defRPr>
            </a:pPr>
            <a:r>
              <a:rPr sz="3150" b="1">
                <a:solidFill>
                  <a:srgbClr val="19E3C2"/>
                </a:solidFill>
              </a:rPr>
              <a:t>2</a:t>
            </a:r>
          </a:p>
        </p:txBody>
      </p:sp>
      <p:sp>
        <p:nvSpPr>
          <p:cNvPr id="9" name="矩形 8">
            <a:extLst>
              <a:ext uri="{FF2B5EF4-FFF2-40B4-BE49-F238E27FC236}">
                <a16:creationId xmlns="" xmlns:a16="http://schemas.microsoft.com/office/drawing/2014/main" id="{E1E14304-7F9E-4DAE-ADE0-39D9360B876A}"/>
              </a:ext>
            </a:extLst>
          </p:cNvPr>
          <p:cNvSpPr>
            <a:spLocks noGrp="1"/>
          </p:cNvSpPr>
          <p:nvPr/>
        </p:nvSpPr>
        <p:spPr>
          <a:xfrm>
            <a:off x="4781550" y="3067050"/>
            <a:ext cx="2476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950" b="1">
                <a:solidFill>
                  <a:srgbClr val="F3F7FF"/>
                </a:solidFill>
              </a:defRPr>
            </a:pPr>
            <a:r>
              <a:rPr sz="1950" b="1">
                <a:solidFill>
                  <a:srgbClr val="F3F7FF"/>
                </a:solidFill>
              </a:rPr>
              <a:t>Manual split math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="" xmlns:a16="http://schemas.microsoft.com/office/drawing/2014/main" id="{92D63710-14F6-4923-AF3D-203BE16EF3B8}"/>
              </a:ext>
            </a:extLst>
          </p:cNvPr>
          <p:cNvSpPr>
            <a:spLocks noGrp="1"/>
          </p:cNvSpPr>
          <p:nvPr/>
        </p:nvSpPr>
        <p:spPr>
          <a:xfrm>
            <a:off x="4781550" y="3562350"/>
            <a:ext cx="2476500" cy="800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9FB2D8"/>
                </a:solidFill>
              </a:defRPr>
            </a:pPr>
            <a:r>
              <a:rPr sz="1350" b="0">
                <a:solidFill>
                  <a:srgbClr val="9FB2D8"/>
                </a:solidFill>
              </a:rPr>
              <a:t>Percentage-based revenue sharing is easy to miscalculate.</a:t>
            </a:r>
          </a:p>
        </p:txBody>
      </p:sp>
      <p:sp>
        <p:nvSpPr>
          <p:cNvPr id="11" name="圆角矩形 10">
            <a:extLst>
              <a:ext uri="{FF2B5EF4-FFF2-40B4-BE49-F238E27FC236}">
                <a16:creationId xmlns="" xmlns:a16="http://schemas.microsoft.com/office/drawing/2014/main" id="{D5A6BBB0-0CE4-4788-81DE-EE9F9D35BF00}"/>
              </a:ext>
            </a:extLst>
          </p:cNvPr>
          <p:cNvSpPr>
            <a:spLocks noGrp="1"/>
          </p:cNvSpPr>
          <p:nvPr/>
        </p:nvSpPr>
        <p:spPr>
          <a:xfrm>
            <a:off x="8229600" y="2095500"/>
            <a:ext cx="3143250" cy="2476500"/>
          </a:xfrm>
          <a:prstGeom prst="roundRect">
            <a:avLst>
              <a:gd name="adj" fmla="val 3077"/>
            </a:avLst>
          </a:prstGeom>
          <a:solidFill>
            <a:srgbClr val="111827"/>
          </a:solidFill>
          <a:ln w="9525">
            <a:solidFill>
              <a:srgbClr val="2B3A5E"/>
            </a:solidFill>
            <a:prstDash val="solid"/>
          </a:ln>
        </p:spPr>
      </p:sp>
      <p:sp>
        <p:nvSpPr>
          <p:cNvPr id="12" name="矩形 11">
            <a:extLst>
              <a:ext uri="{FF2B5EF4-FFF2-40B4-BE49-F238E27FC236}">
                <a16:creationId xmlns="" xmlns:a16="http://schemas.microsoft.com/office/drawing/2014/main" id="{E04F9A21-DEFA-4187-BC38-15DB77A73FCE}"/>
              </a:ext>
            </a:extLst>
          </p:cNvPr>
          <p:cNvSpPr>
            <a:spLocks noGrp="1"/>
          </p:cNvSpPr>
          <p:nvPr/>
        </p:nvSpPr>
        <p:spPr>
          <a:xfrm>
            <a:off x="8496300" y="2324100"/>
            <a:ext cx="5715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3150" b="1">
                <a:solidFill>
                  <a:srgbClr val="FFC53D"/>
                </a:solidFill>
              </a:defRPr>
            </a:pPr>
            <a:r>
              <a:rPr sz="3150" b="1" dirty="0">
                <a:solidFill>
                  <a:srgbClr val="19E3C2"/>
                </a:solidFill>
              </a:rPr>
              <a:t>3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="" xmlns:a16="http://schemas.microsoft.com/office/drawing/2014/main" id="{0841F5BA-0B25-45FA-B5DB-ABC5CDCE7C4D}"/>
              </a:ext>
            </a:extLst>
          </p:cNvPr>
          <p:cNvSpPr>
            <a:spLocks noGrp="1"/>
          </p:cNvSpPr>
          <p:nvPr/>
        </p:nvSpPr>
        <p:spPr>
          <a:xfrm>
            <a:off x="8496300" y="3067050"/>
            <a:ext cx="2476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950" b="1">
                <a:solidFill>
                  <a:srgbClr val="F3F7FF"/>
                </a:solidFill>
              </a:defRPr>
            </a:pPr>
            <a:r>
              <a:rPr sz="1950" b="1">
                <a:solidFill>
                  <a:srgbClr val="F3F7FF"/>
                </a:solidFill>
              </a:rPr>
              <a:t>Gas cost friction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="" xmlns:a16="http://schemas.microsoft.com/office/drawing/2014/main" id="{5FFCDDBE-E15E-4053-BF0C-F5F05C80BEA9}"/>
              </a:ext>
            </a:extLst>
          </p:cNvPr>
          <p:cNvSpPr>
            <a:spLocks noGrp="1"/>
          </p:cNvSpPr>
          <p:nvPr/>
        </p:nvSpPr>
        <p:spPr>
          <a:xfrm>
            <a:off x="8496300" y="3562350"/>
            <a:ext cx="2476500" cy="800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9FB2D8"/>
                </a:solidFill>
              </a:defRPr>
            </a:pPr>
            <a:r>
              <a:rPr sz="1350" b="0">
                <a:solidFill>
                  <a:srgbClr val="9FB2D8"/>
                </a:solidFill>
              </a:rPr>
              <a:t>Batch transfers become expensive and painful on high-cost networks.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="" xmlns:a16="http://schemas.microsoft.com/office/drawing/2014/main" id="{68DB9F2C-E5DE-48B4-A233-753697CE3118}"/>
              </a:ext>
            </a:extLst>
          </p:cNvPr>
          <p:cNvSpPr>
            <a:spLocks noGrp="1"/>
          </p:cNvSpPr>
          <p:nvPr/>
        </p:nvSpPr>
        <p:spPr>
          <a:xfrm>
            <a:off x="609600" y="6381750"/>
            <a:ext cx="2476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0">
                <a:solidFill>
                  <a:srgbClr val="9FB2D8"/>
                </a:solidFill>
              </a:defRPr>
            </a:pPr>
            <a:r>
              <a:rPr sz="900" b="0">
                <a:solidFill>
                  <a:srgbClr val="9FB2D8"/>
                </a:solidFill>
              </a:rPr>
              <a:t>DivvyPay / GASOK Demo / 2</a:t>
            </a:r>
          </a:p>
        </p:txBody>
      </p:sp>
    </p:spTree>
    <p:extLst>
      <p:ext uri="{BB962C8B-B14F-4D97-AF65-F5344CB8AC3E}">
        <p14:creationId xmlns:p14="http://schemas.microsoft.com/office/powerpoint/2010/main" val="14672030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矩形 21">
            <a:extLst>
              <a:ext uri="{FF2B5EF4-FFF2-40B4-BE49-F238E27FC236}">
                <a16:creationId xmlns="" xmlns:a16="http://schemas.microsoft.com/office/drawing/2014/main" id="{0047346E-8FD3-4025-8B6C-351D597842B4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3429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>
                <a:solidFill>
                  <a:srgbClr val="19E3C2"/>
                </a:solidFill>
              </a:defRPr>
            </a:pPr>
            <a:r>
              <a:rPr sz="975" b="1">
                <a:solidFill>
                  <a:srgbClr val="19E3C2"/>
                </a:solidFill>
              </a:rPr>
              <a:t>DIVVYPAY</a:t>
            </a:r>
          </a:p>
        </p:txBody>
      </p:sp>
      <p:sp>
        <p:nvSpPr>
          <p:cNvPr id="2" name="矩形 1">
            <a:extLst>
              <a:ext uri="{FF2B5EF4-FFF2-40B4-BE49-F238E27FC236}">
                <a16:creationId xmlns="" xmlns:a16="http://schemas.microsoft.com/office/drawing/2014/main" id="{4956566B-0D5E-4446-932C-580BAA567F24}"/>
              </a:ext>
            </a:extLst>
          </p:cNvPr>
          <p:cNvSpPr>
            <a:spLocks noGrp="1"/>
          </p:cNvSpPr>
          <p:nvPr/>
        </p:nvSpPr>
        <p:spPr>
          <a:xfrm>
            <a:off x="609600" y="685800"/>
            <a:ext cx="80010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850" b="1">
                <a:solidFill>
                  <a:srgbClr val="F3F7FF"/>
                </a:solidFill>
              </a:defRPr>
            </a:pPr>
            <a:r>
              <a:rPr sz="2850" b="1">
                <a:solidFill>
                  <a:srgbClr val="F3F7FF"/>
                </a:solidFill>
              </a:rPr>
              <a:t>DivvyPay solves two real payout problems</a:t>
            </a:r>
          </a:p>
        </p:txBody>
      </p:sp>
      <p:sp>
        <p:nvSpPr>
          <p:cNvPr id="3" name="圆角矩形 2">
            <a:extLst>
              <a:ext uri="{FF2B5EF4-FFF2-40B4-BE49-F238E27FC236}">
                <a16:creationId xmlns="" xmlns:a16="http://schemas.microsoft.com/office/drawing/2014/main" id="{F3949D8B-5099-4CBB-8253-7615A707690E}"/>
              </a:ext>
            </a:extLst>
          </p:cNvPr>
          <p:cNvSpPr>
            <a:spLocks noGrp="1"/>
          </p:cNvSpPr>
          <p:nvPr/>
        </p:nvSpPr>
        <p:spPr>
          <a:xfrm>
            <a:off x="781050" y="1762125"/>
            <a:ext cx="4857750" cy="3429000"/>
          </a:xfrm>
          <a:prstGeom prst="roundRect">
            <a:avLst>
              <a:gd name="adj" fmla="val 2222"/>
            </a:avLst>
          </a:prstGeom>
          <a:solidFill>
            <a:srgbClr val="17213A"/>
          </a:solidFill>
          <a:ln w="9525">
            <a:solidFill>
              <a:srgbClr val="2B3A5E"/>
            </a:solidFill>
            <a:prstDash val="solid"/>
          </a:ln>
        </p:spPr>
      </p:sp>
      <p:sp>
        <p:nvSpPr>
          <p:cNvPr id="4" name="矩形 3">
            <a:extLst>
              <a:ext uri="{FF2B5EF4-FFF2-40B4-BE49-F238E27FC236}">
                <a16:creationId xmlns="" xmlns:a16="http://schemas.microsoft.com/office/drawing/2014/main" id="{7C0B1929-7243-45E4-8973-61712C1EA0F3}"/>
              </a:ext>
            </a:extLst>
          </p:cNvPr>
          <p:cNvSpPr>
            <a:spLocks noGrp="1"/>
          </p:cNvSpPr>
          <p:nvPr/>
        </p:nvSpPr>
        <p:spPr>
          <a:xfrm>
            <a:off x="1104900" y="2038350"/>
            <a:ext cx="6858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550" b="1">
                <a:solidFill>
                  <a:srgbClr val="19E3C2"/>
                </a:solidFill>
              </a:defRPr>
            </a:pPr>
            <a:r>
              <a:rPr sz="2550" b="1">
                <a:solidFill>
                  <a:srgbClr val="19E3C2"/>
                </a:solidFill>
              </a:rPr>
              <a:t>01</a:t>
            </a:r>
          </a:p>
        </p:txBody>
      </p:sp>
      <p:sp>
        <p:nvSpPr>
          <p:cNvPr id="5" name="矩形 4">
            <a:extLst>
              <a:ext uri="{FF2B5EF4-FFF2-40B4-BE49-F238E27FC236}">
                <a16:creationId xmlns="" xmlns:a16="http://schemas.microsoft.com/office/drawing/2014/main" id="{E9BDBC8A-B8DD-46FB-BEF1-F1AC1BEE1237}"/>
              </a:ext>
            </a:extLst>
          </p:cNvPr>
          <p:cNvSpPr>
            <a:spLocks noGrp="1"/>
          </p:cNvSpPr>
          <p:nvPr/>
        </p:nvSpPr>
        <p:spPr>
          <a:xfrm>
            <a:off x="1104900" y="2571750"/>
            <a:ext cx="323850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550" b="1">
                <a:solidFill>
                  <a:srgbClr val="F3F7FF"/>
                </a:solidFill>
              </a:defRPr>
            </a:pPr>
            <a:r>
              <a:rPr sz="2550" b="1">
                <a:solidFill>
                  <a:srgbClr val="F3F7FF"/>
                </a:solidFill>
              </a:rPr>
              <a:t>Batch payments</a:t>
            </a:r>
          </a:p>
          <a:p>
            <a:pPr algn="l">
              <a:defRPr sz="2550" b="1">
                <a:solidFill>
                  <a:srgbClr val="F3F7FF"/>
                </a:solidFill>
              </a:defRPr>
            </a:pPr>
            <a:r>
              <a:rPr sz="2550" b="1">
                <a:solidFill>
                  <a:srgbClr val="F3F7FF"/>
                </a:solidFill>
              </a:rPr>
              <a:t>are repetitive</a:t>
            </a:r>
          </a:p>
        </p:txBody>
      </p:sp>
      <p:sp>
        <p:nvSpPr>
          <p:cNvPr id="6" name="矩形 5">
            <a:extLst>
              <a:ext uri="{FF2B5EF4-FFF2-40B4-BE49-F238E27FC236}">
                <a16:creationId xmlns="" xmlns:a16="http://schemas.microsoft.com/office/drawing/2014/main" id="{575ECC7A-7546-4545-8457-03D41FA5C1B6}"/>
              </a:ext>
            </a:extLst>
          </p:cNvPr>
          <p:cNvSpPr>
            <a:spLocks noGrp="1"/>
          </p:cNvSpPr>
          <p:nvPr/>
        </p:nvSpPr>
        <p:spPr>
          <a:xfrm>
            <a:off x="1104900" y="3562350"/>
            <a:ext cx="3667125" cy="895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0">
                <a:solidFill>
                  <a:srgbClr val="9FB2D8"/>
                </a:solidFill>
              </a:defRPr>
            </a:pPr>
            <a:r>
              <a:rPr sz="1500" b="0">
                <a:solidFill>
                  <a:srgbClr val="9FB2D8"/>
                </a:solidFill>
              </a:rPr>
              <a:t>Add multiple recipients or upload a CSV, then complete payroll, rewards, or contributor payouts in one transaction.</a:t>
            </a:r>
          </a:p>
        </p:txBody>
      </p:sp>
      <p:sp>
        <p:nvSpPr>
          <p:cNvPr id="7" name="圆角矩形 6">
            <a:extLst>
              <a:ext uri="{FF2B5EF4-FFF2-40B4-BE49-F238E27FC236}">
                <a16:creationId xmlns="" xmlns:a16="http://schemas.microsoft.com/office/drawing/2014/main" id="{C8288FEF-B09D-49C9-83BE-DBC6A8198F04}"/>
              </a:ext>
            </a:extLst>
          </p:cNvPr>
          <p:cNvSpPr>
            <a:spLocks noGrp="1"/>
          </p:cNvSpPr>
          <p:nvPr/>
        </p:nvSpPr>
        <p:spPr>
          <a:xfrm>
            <a:off x="1104900" y="4686300"/>
            <a:ext cx="1428750" cy="323850"/>
          </a:xfrm>
          <a:prstGeom prst="roundRect">
            <a:avLst>
              <a:gd name="adj" fmla="val 50000"/>
            </a:avLst>
          </a:prstGeom>
          <a:solidFill>
            <a:srgbClr val="19E3C2">
              <a:alpha val="13333"/>
            </a:srgbClr>
          </a:solidFill>
          <a:ln w="9525">
            <a:solidFill>
              <a:srgbClr val="19E3C2">
                <a:alpha val="46667"/>
              </a:srgbClr>
            </a:solidFill>
            <a:prstDash val="solid"/>
          </a:ln>
        </p:spPr>
      </p:sp>
      <p:sp>
        <p:nvSpPr>
          <p:cNvPr id="8" name="矩形 7">
            <a:extLst>
              <a:ext uri="{FF2B5EF4-FFF2-40B4-BE49-F238E27FC236}">
                <a16:creationId xmlns="" xmlns:a16="http://schemas.microsoft.com/office/drawing/2014/main" id="{A43574B4-1317-4D23-A633-5FA7852B4AAC}"/>
              </a:ext>
            </a:extLst>
          </p:cNvPr>
          <p:cNvSpPr>
            <a:spLocks noGrp="1"/>
          </p:cNvSpPr>
          <p:nvPr/>
        </p:nvSpPr>
        <p:spPr>
          <a:xfrm>
            <a:off x="1352550" y="4719637"/>
            <a:ext cx="11239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19E3C2"/>
                </a:solidFill>
              </a:defRPr>
            </a:pPr>
            <a:r>
              <a:rPr sz="1050" b="1" dirty="0">
                <a:solidFill>
                  <a:srgbClr val="19E3C2"/>
                </a:solidFill>
              </a:rPr>
              <a:t>CSV upload</a:t>
            </a:r>
          </a:p>
        </p:txBody>
      </p:sp>
      <p:sp>
        <p:nvSpPr>
          <p:cNvPr id="9" name="圆角矩形 8">
            <a:extLst>
              <a:ext uri="{FF2B5EF4-FFF2-40B4-BE49-F238E27FC236}">
                <a16:creationId xmlns="" xmlns:a16="http://schemas.microsoft.com/office/drawing/2014/main" id="{BACD450B-BAAC-45BB-A104-CF39165FD831}"/>
              </a:ext>
            </a:extLst>
          </p:cNvPr>
          <p:cNvSpPr>
            <a:spLocks noGrp="1"/>
          </p:cNvSpPr>
          <p:nvPr/>
        </p:nvSpPr>
        <p:spPr>
          <a:xfrm>
            <a:off x="2724150" y="4686300"/>
            <a:ext cx="2095500" cy="323850"/>
          </a:xfrm>
          <a:prstGeom prst="roundRect">
            <a:avLst>
              <a:gd name="adj" fmla="val 50000"/>
            </a:avLst>
          </a:prstGeom>
          <a:solidFill>
            <a:srgbClr val="19E3C2">
              <a:alpha val="13333"/>
            </a:srgbClr>
          </a:solidFill>
          <a:ln w="9525">
            <a:solidFill>
              <a:srgbClr val="19E3C2">
                <a:alpha val="46667"/>
              </a:srgbClr>
            </a:solidFill>
            <a:prstDash val="solid"/>
          </a:ln>
        </p:spPr>
      </p:sp>
      <p:sp>
        <p:nvSpPr>
          <p:cNvPr id="10" name="矩形 9">
            <a:extLst>
              <a:ext uri="{FF2B5EF4-FFF2-40B4-BE49-F238E27FC236}">
                <a16:creationId xmlns="" xmlns:a16="http://schemas.microsoft.com/office/drawing/2014/main" id="{8D4C2C02-606E-4DCE-81B1-9FCCA7CE2C07}"/>
              </a:ext>
            </a:extLst>
          </p:cNvPr>
          <p:cNvSpPr>
            <a:spLocks noGrp="1"/>
          </p:cNvSpPr>
          <p:nvPr/>
        </p:nvSpPr>
        <p:spPr>
          <a:xfrm>
            <a:off x="3117850" y="4733925"/>
            <a:ext cx="17907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19E3C2"/>
                </a:solidFill>
              </a:defRPr>
            </a:pPr>
            <a:r>
              <a:rPr sz="1050" b="1" dirty="0">
                <a:solidFill>
                  <a:srgbClr val="19E3C2"/>
                </a:solidFill>
              </a:rPr>
              <a:t>Multiple recipients</a:t>
            </a:r>
          </a:p>
        </p:txBody>
      </p:sp>
      <p:sp>
        <p:nvSpPr>
          <p:cNvPr id="11" name="圆角矩形 10">
            <a:extLst>
              <a:ext uri="{FF2B5EF4-FFF2-40B4-BE49-F238E27FC236}">
                <a16:creationId xmlns="" xmlns:a16="http://schemas.microsoft.com/office/drawing/2014/main" id="{50DAEF87-D489-4322-97D4-BA1EACA39C51}"/>
              </a:ext>
            </a:extLst>
          </p:cNvPr>
          <p:cNvSpPr>
            <a:spLocks noGrp="1"/>
          </p:cNvSpPr>
          <p:nvPr/>
        </p:nvSpPr>
        <p:spPr>
          <a:xfrm>
            <a:off x="6553200" y="1762125"/>
            <a:ext cx="4857750" cy="3429000"/>
          </a:xfrm>
          <a:prstGeom prst="roundRect">
            <a:avLst>
              <a:gd name="adj" fmla="val 2222"/>
            </a:avLst>
          </a:prstGeom>
          <a:solidFill>
            <a:srgbClr val="17213A"/>
          </a:solidFill>
          <a:ln w="9525">
            <a:solidFill>
              <a:srgbClr val="2B3A5E"/>
            </a:solidFill>
            <a:prstDash val="solid"/>
          </a:ln>
        </p:spPr>
      </p:sp>
      <p:sp>
        <p:nvSpPr>
          <p:cNvPr id="12" name="矩形 11">
            <a:extLst>
              <a:ext uri="{FF2B5EF4-FFF2-40B4-BE49-F238E27FC236}">
                <a16:creationId xmlns="" xmlns:a16="http://schemas.microsoft.com/office/drawing/2014/main" id="{AF77065B-4753-4530-ADFB-4F800915A7C2}"/>
              </a:ext>
            </a:extLst>
          </p:cNvPr>
          <p:cNvSpPr>
            <a:spLocks noGrp="1"/>
          </p:cNvSpPr>
          <p:nvPr/>
        </p:nvSpPr>
        <p:spPr>
          <a:xfrm>
            <a:off x="6877050" y="2038350"/>
            <a:ext cx="6858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550" b="1">
                <a:solidFill>
                  <a:srgbClr val="6D7FCF"/>
                </a:solidFill>
              </a:defRPr>
            </a:pPr>
            <a:r>
              <a:rPr sz="2550" b="1">
                <a:solidFill>
                  <a:srgbClr val="6D7FCF"/>
                </a:solidFill>
              </a:rPr>
              <a:t>02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="" xmlns:a16="http://schemas.microsoft.com/office/drawing/2014/main" id="{04C67494-112A-48DA-9BE5-116CE146DE2A}"/>
              </a:ext>
            </a:extLst>
          </p:cNvPr>
          <p:cNvSpPr>
            <a:spLocks noGrp="1"/>
          </p:cNvSpPr>
          <p:nvPr/>
        </p:nvSpPr>
        <p:spPr>
          <a:xfrm>
            <a:off x="6877050" y="2571750"/>
            <a:ext cx="352425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550" b="1">
                <a:solidFill>
                  <a:srgbClr val="F3F7FF"/>
                </a:solidFill>
              </a:defRPr>
            </a:pPr>
            <a:r>
              <a:rPr sz="2550" b="1">
                <a:solidFill>
                  <a:srgbClr val="F3F7FF"/>
                </a:solidFill>
              </a:rPr>
              <a:t>Percentage splits</a:t>
            </a:r>
          </a:p>
          <a:p>
            <a:pPr algn="l">
              <a:defRPr sz="2550" b="1">
                <a:solidFill>
                  <a:srgbClr val="F3F7FF"/>
                </a:solidFill>
              </a:defRPr>
            </a:pPr>
            <a:r>
              <a:rPr sz="2550" b="1">
                <a:solidFill>
                  <a:srgbClr val="F3F7FF"/>
                </a:solidFill>
              </a:rPr>
              <a:t>are error-prone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="" xmlns:a16="http://schemas.microsoft.com/office/drawing/2014/main" id="{D8FDEFB8-18FE-4870-B3DC-CC8BDFB41218}"/>
              </a:ext>
            </a:extLst>
          </p:cNvPr>
          <p:cNvSpPr>
            <a:spLocks noGrp="1"/>
          </p:cNvSpPr>
          <p:nvPr/>
        </p:nvSpPr>
        <p:spPr>
          <a:xfrm>
            <a:off x="6877050" y="3562350"/>
            <a:ext cx="3762375" cy="895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0">
                <a:solidFill>
                  <a:srgbClr val="9FB2D8"/>
                </a:solidFill>
              </a:defRPr>
            </a:pPr>
            <a:r>
              <a:rPr sz="1500" b="0">
                <a:solidFill>
                  <a:srgbClr val="9FB2D8"/>
                </a:solidFill>
              </a:rPr>
              <a:t>Enter a total amount and percentage shares. DivvyPay calculates the distribution and safely handles rounding.</a:t>
            </a:r>
          </a:p>
        </p:txBody>
      </p:sp>
      <p:sp>
        <p:nvSpPr>
          <p:cNvPr id="15" name="圆角矩形 14">
            <a:extLst>
              <a:ext uri="{FF2B5EF4-FFF2-40B4-BE49-F238E27FC236}">
                <a16:creationId xmlns="" xmlns:a16="http://schemas.microsoft.com/office/drawing/2014/main" id="{B753897D-3CEF-47C6-AEB6-B13625B87678}"/>
              </a:ext>
            </a:extLst>
          </p:cNvPr>
          <p:cNvSpPr>
            <a:spLocks noGrp="1"/>
          </p:cNvSpPr>
          <p:nvPr/>
        </p:nvSpPr>
        <p:spPr>
          <a:xfrm>
            <a:off x="6877050" y="4686300"/>
            <a:ext cx="2095500" cy="323850"/>
          </a:xfrm>
          <a:prstGeom prst="roundRect">
            <a:avLst>
              <a:gd name="adj" fmla="val 50000"/>
            </a:avLst>
          </a:prstGeom>
          <a:solidFill>
            <a:srgbClr val="6D7FCF">
              <a:alpha val="13333"/>
            </a:srgbClr>
          </a:solidFill>
          <a:ln w="9525">
            <a:solidFill>
              <a:srgbClr val="6D7FCF">
                <a:alpha val="46667"/>
              </a:srgbClr>
            </a:solidFill>
            <a:prstDash val="solid"/>
          </a:ln>
        </p:spPr>
      </p:sp>
      <p:sp>
        <p:nvSpPr>
          <p:cNvPr id="16" name="矩形 15">
            <a:extLst>
              <a:ext uri="{FF2B5EF4-FFF2-40B4-BE49-F238E27FC236}">
                <a16:creationId xmlns="" xmlns:a16="http://schemas.microsoft.com/office/drawing/2014/main" id="{44029EA9-94FE-40B9-9A55-33145A14C516}"/>
              </a:ext>
            </a:extLst>
          </p:cNvPr>
          <p:cNvSpPr>
            <a:spLocks noGrp="1"/>
          </p:cNvSpPr>
          <p:nvPr/>
        </p:nvSpPr>
        <p:spPr>
          <a:xfrm>
            <a:off x="7181850" y="4724400"/>
            <a:ext cx="17907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6D7FCF"/>
                </a:solidFill>
              </a:defRPr>
            </a:pPr>
            <a:r>
              <a:rPr sz="1050" b="1" dirty="0">
                <a:solidFill>
                  <a:srgbClr val="6D7FCF"/>
                </a:solidFill>
              </a:rPr>
              <a:t>Percentage shares</a:t>
            </a:r>
          </a:p>
        </p:txBody>
      </p:sp>
      <p:sp>
        <p:nvSpPr>
          <p:cNvPr id="17" name="圆角矩形 16">
            <a:extLst>
              <a:ext uri="{FF2B5EF4-FFF2-40B4-BE49-F238E27FC236}">
                <a16:creationId xmlns="" xmlns:a16="http://schemas.microsoft.com/office/drawing/2014/main" id="{032CC64F-3FCA-46B5-8D28-4BD215910476}"/>
              </a:ext>
            </a:extLst>
          </p:cNvPr>
          <p:cNvSpPr>
            <a:spLocks noGrp="1"/>
          </p:cNvSpPr>
          <p:nvPr/>
        </p:nvSpPr>
        <p:spPr>
          <a:xfrm>
            <a:off x="9163050" y="4686300"/>
            <a:ext cx="2000250" cy="323850"/>
          </a:xfrm>
          <a:prstGeom prst="roundRect">
            <a:avLst>
              <a:gd name="adj" fmla="val 50000"/>
            </a:avLst>
          </a:prstGeom>
          <a:solidFill>
            <a:srgbClr val="6D7FCF">
              <a:alpha val="13333"/>
            </a:srgbClr>
          </a:solidFill>
          <a:ln w="9525">
            <a:solidFill>
              <a:srgbClr val="6D7FCF">
                <a:alpha val="46667"/>
              </a:srgbClr>
            </a:solidFill>
            <a:prstDash val="solid"/>
          </a:ln>
        </p:spPr>
      </p:sp>
      <p:sp>
        <p:nvSpPr>
          <p:cNvPr id="18" name="矩形 17">
            <a:extLst>
              <a:ext uri="{FF2B5EF4-FFF2-40B4-BE49-F238E27FC236}">
                <a16:creationId xmlns="" xmlns:a16="http://schemas.microsoft.com/office/drawing/2014/main" id="{1C0540C8-6599-4EFF-9B7C-DB76296A4364}"/>
              </a:ext>
            </a:extLst>
          </p:cNvPr>
          <p:cNvSpPr>
            <a:spLocks noGrp="1"/>
          </p:cNvSpPr>
          <p:nvPr/>
        </p:nvSpPr>
        <p:spPr>
          <a:xfrm>
            <a:off x="9436100" y="4733925"/>
            <a:ext cx="16954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6D7FCF"/>
                </a:solidFill>
              </a:defRPr>
            </a:pPr>
            <a:r>
              <a:rPr sz="1050" b="1" dirty="0">
                <a:solidFill>
                  <a:srgbClr val="6D7FCF"/>
                </a:solidFill>
              </a:rPr>
              <a:t>Rounding handled</a:t>
            </a:r>
          </a:p>
        </p:txBody>
      </p:sp>
      <p:sp>
        <p:nvSpPr>
          <p:cNvPr id="19" name="圆角矩形 18">
            <a:extLst>
              <a:ext uri="{FF2B5EF4-FFF2-40B4-BE49-F238E27FC236}">
                <a16:creationId xmlns="" xmlns:a16="http://schemas.microsoft.com/office/drawing/2014/main" id="{240131CA-19B7-4E6A-B7F4-412AE8C6DECA}"/>
              </a:ext>
            </a:extLst>
          </p:cNvPr>
          <p:cNvSpPr>
            <a:spLocks noGrp="1"/>
          </p:cNvSpPr>
          <p:nvPr/>
        </p:nvSpPr>
        <p:spPr>
          <a:xfrm>
            <a:off x="3524250" y="5619750"/>
            <a:ext cx="5143500" cy="419100"/>
          </a:xfrm>
          <a:prstGeom prst="roundRect">
            <a:avLst>
              <a:gd name="adj" fmla="val 50000"/>
            </a:avLst>
          </a:prstGeom>
          <a:solidFill>
            <a:srgbClr val="19E3C2">
              <a:alpha val="8627"/>
            </a:srgbClr>
          </a:solidFill>
          <a:ln w="9525">
            <a:solidFill>
              <a:srgbClr val="19E3C2">
                <a:alpha val="40000"/>
              </a:srgbClr>
            </a:solidFill>
            <a:prstDash val="solid"/>
          </a:ln>
        </p:spPr>
      </p:sp>
      <p:sp>
        <p:nvSpPr>
          <p:cNvPr id="20" name="矩形 19">
            <a:extLst>
              <a:ext uri="{FF2B5EF4-FFF2-40B4-BE49-F238E27FC236}">
                <a16:creationId xmlns="" xmlns:a16="http://schemas.microsoft.com/office/drawing/2014/main" id="{D4D71A39-9880-4F7D-9FB3-895A95CBFD0B}"/>
              </a:ext>
            </a:extLst>
          </p:cNvPr>
          <p:cNvSpPr>
            <a:spLocks noGrp="1"/>
          </p:cNvSpPr>
          <p:nvPr/>
        </p:nvSpPr>
        <p:spPr>
          <a:xfrm>
            <a:off x="3714750" y="5734050"/>
            <a:ext cx="4762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425" b="1">
                <a:solidFill>
                  <a:srgbClr val="19E3C2"/>
                </a:solidFill>
              </a:defRPr>
            </a:pPr>
            <a:r>
              <a:rPr sz="1425" b="1">
                <a:solidFill>
                  <a:srgbClr val="19E3C2"/>
                </a:solidFill>
              </a:rPr>
              <a:t>Standalone GIWA DApp with wallet-native payout potential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="" xmlns:a16="http://schemas.microsoft.com/office/drawing/2014/main" id="{65F4FA80-D8E5-4CA3-86BE-6DC76FE8952B}"/>
              </a:ext>
            </a:extLst>
          </p:cNvPr>
          <p:cNvSpPr>
            <a:spLocks noGrp="1"/>
          </p:cNvSpPr>
          <p:nvPr/>
        </p:nvSpPr>
        <p:spPr>
          <a:xfrm>
            <a:off x="609600" y="6381750"/>
            <a:ext cx="2476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0">
                <a:solidFill>
                  <a:srgbClr val="9FB2D8"/>
                </a:solidFill>
              </a:defRPr>
            </a:pPr>
            <a:r>
              <a:rPr sz="900" b="0">
                <a:solidFill>
                  <a:srgbClr val="9FB2D8"/>
                </a:solidFill>
              </a:rPr>
              <a:t>DivvyPay / GASOK Demo / 3</a:t>
            </a:r>
          </a:p>
        </p:txBody>
      </p:sp>
    </p:spTree>
    <p:extLst>
      <p:ext uri="{BB962C8B-B14F-4D97-AF65-F5344CB8AC3E}">
        <p14:creationId xmlns:p14="http://schemas.microsoft.com/office/powerpoint/2010/main" val="20599814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矩形 22">
            <a:extLst>
              <a:ext uri="{FF2B5EF4-FFF2-40B4-BE49-F238E27FC236}">
                <a16:creationId xmlns:a16="http://schemas.microsoft.com/office/drawing/2014/main" xmlns="" id="{E08B63A7-7A6B-4A89-B383-8BBB9FDCB806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3429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>
                <a:solidFill>
                  <a:srgbClr val="19E3C2"/>
                </a:solidFill>
              </a:defRPr>
            </a:pPr>
            <a:r>
              <a:rPr sz="975" b="1">
                <a:solidFill>
                  <a:srgbClr val="19E3C2"/>
                </a:solidFill>
              </a:rPr>
              <a:t>DIVVYPAY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xmlns="" id="{8A1D1EA0-B45C-415F-A350-850CE6E329BB}"/>
              </a:ext>
            </a:extLst>
          </p:cNvPr>
          <p:cNvSpPr>
            <a:spLocks noGrp="1"/>
          </p:cNvSpPr>
          <p:nvPr/>
        </p:nvSpPr>
        <p:spPr>
          <a:xfrm>
            <a:off x="609600" y="685800"/>
            <a:ext cx="80010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850" b="1">
                <a:solidFill>
                  <a:srgbClr val="F3F7FF"/>
                </a:solidFill>
              </a:defRPr>
            </a:pPr>
            <a:r>
              <a:rPr sz="2850" b="1">
                <a:solidFill>
                  <a:srgbClr val="F3F7FF"/>
                </a:solidFill>
              </a:rPr>
              <a:t>A standalone DApp with GIWA Wallet potential</a:t>
            </a:r>
          </a:p>
        </p:txBody>
      </p:sp>
      <p:sp>
        <p:nvSpPr>
          <p:cNvPr id="25" name="圆角矩形 24">
            <a:extLst>
              <a:ext uri="{FF2B5EF4-FFF2-40B4-BE49-F238E27FC236}">
                <a16:creationId xmlns:a16="http://schemas.microsoft.com/office/drawing/2014/main" xmlns="" id="{FBDA4E92-667E-492F-B80A-983AF3BCA719}"/>
              </a:ext>
            </a:extLst>
          </p:cNvPr>
          <p:cNvSpPr>
            <a:spLocks noGrp="1"/>
          </p:cNvSpPr>
          <p:nvPr/>
        </p:nvSpPr>
        <p:spPr>
          <a:xfrm>
            <a:off x="857250" y="1809750"/>
            <a:ext cx="4095750" cy="2952750"/>
          </a:xfrm>
          <a:prstGeom prst="roundRect">
            <a:avLst>
              <a:gd name="adj" fmla="val 2581"/>
            </a:avLst>
          </a:prstGeom>
          <a:solidFill>
            <a:srgbClr val="17213A"/>
          </a:solidFill>
          <a:ln w="9525">
            <a:solidFill>
              <a:srgbClr val="2B3A5E"/>
            </a:solidFill>
            <a:prstDash val="solid"/>
          </a:ln>
        </p:spPr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xmlns="" id="{50F4706D-99B0-40F1-8CD6-5D2D78DF716F}"/>
              </a:ext>
            </a:extLst>
          </p:cNvPr>
          <p:cNvSpPr>
            <a:spLocks noGrp="1"/>
          </p:cNvSpPr>
          <p:nvPr/>
        </p:nvSpPr>
        <p:spPr>
          <a:xfrm>
            <a:off x="1238250" y="2152650"/>
            <a:ext cx="2381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19E3C2"/>
                </a:solidFill>
              </a:defRPr>
            </a:pPr>
            <a:r>
              <a:rPr sz="1650" b="1">
                <a:solidFill>
                  <a:srgbClr val="19E3C2"/>
                </a:solidFill>
              </a:rPr>
              <a:t>Current form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xmlns="" id="{A4AE5ED8-0DDE-4776-B618-93A74D4AA0E5}"/>
              </a:ext>
            </a:extLst>
          </p:cNvPr>
          <p:cNvSpPr>
            <a:spLocks noGrp="1"/>
          </p:cNvSpPr>
          <p:nvPr/>
        </p:nvSpPr>
        <p:spPr>
          <a:xfrm>
            <a:off x="1238250" y="2609850"/>
            <a:ext cx="31432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325" b="1">
                <a:solidFill>
                  <a:srgbClr val="F3F7FF"/>
                </a:solidFill>
              </a:defRPr>
            </a:pPr>
            <a:r>
              <a:rPr sz="2325" b="1">
                <a:solidFill>
                  <a:srgbClr val="F3F7FF"/>
                </a:solidFill>
              </a:rPr>
              <a:t>Standalone GIWA DApp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xmlns="" id="{263CA2B4-8069-463B-AC58-DFFD0E495D15}"/>
              </a:ext>
            </a:extLst>
          </p:cNvPr>
          <p:cNvSpPr>
            <a:spLocks noGrp="1"/>
          </p:cNvSpPr>
          <p:nvPr/>
        </p:nvSpPr>
        <p:spPr>
          <a:xfrm>
            <a:off x="1238250" y="3333750"/>
            <a:ext cx="3143250" cy="914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0">
                <a:solidFill>
                  <a:srgbClr val="9FB2D8"/>
                </a:solidFill>
              </a:defRPr>
            </a:pPr>
            <a:r>
              <a:rPr sz="1500" b="0">
                <a:solidFill>
                  <a:srgbClr val="9FB2D8"/>
                </a:solidFill>
              </a:rPr>
              <a:t>Users open DivvyPay in the browser, connect a wallet, mint test tokens, and complete Batch or Split payouts on GIWA Sepolia.</a:t>
            </a:r>
          </a:p>
        </p:txBody>
      </p:sp>
      <p:sp>
        <p:nvSpPr>
          <p:cNvPr id="29" name="右箭头 28">
            <a:extLst>
              <a:ext uri="{FF2B5EF4-FFF2-40B4-BE49-F238E27FC236}">
                <a16:creationId xmlns:a16="http://schemas.microsoft.com/office/drawing/2014/main" xmlns="" id="{C7E98065-FF8B-4BB8-B691-485E7BC1552E}"/>
              </a:ext>
            </a:extLst>
          </p:cNvPr>
          <p:cNvSpPr>
            <a:spLocks noGrp="1"/>
          </p:cNvSpPr>
          <p:nvPr/>
        </p:nvSpPr>
        <p:spPr>
          <a:xfrm>
            <a:off x="5353050" y="3028950"/>
            <a:ext cx="1428750" cy="419100"/>
          </a:xfrm>
          <a:prstGeom prst="rightArrow">
            <a:avLst/>
          </a:prstGeom>
          <a:solidFill>
            <a:srgbClr val="19E3C2"/>
          </a:solidFill>
          <a:ln w="0">
            <a:solidFill>
              <a:srgbClr val="19E3C2"/>
            </a:solidFill>
            <a:prstDash val="solid"/>
          </a:ln>
        </p:spPr>
      </p:sp>
      <p:sp>
        <p:nvSpPr>
          <p:cNvPr id="30" name="圆角矩形 29">
            <a:extLst>
              <a:ext uri="{FF2B5EF4-FFF2-40B4-BE49-F238E27FC236}">
                <a16:creationId xmlns:a16="http://schemas.microsoft.com/office/drawing/2014/main" xmlns="" id="{0BB235E0-CDB1-4090-8149-129202B7E8D2}"/>
              </a:ext>
            </a:extLst>
          </p:cNvPr>
          <p:cNvSpPr>
            <a:spLocks noGrp="1"/>
          </p:cNvSpPr>
          <p:nvPr/>
        </p:nvSpPr>
        <p:spPr>
          <a:xfrm>
            <a:off x="7239000" y="1809750"/>
            <a:ext cx="4095750" cy="2952750"/>
          </a:xfrm>
          <a:prstGeom prst="roundRect">
            <a:avLst>
              <a:gd name="adj" fmla="val 2581"/>
            </a:avLst>
          </a:prstGeom>
          <a:solidFill>
            <a:srgbClr val="17213A"/>
          </a:solidFill>
          <a:ln w="9525">
            <a:solidFill>
              <a:srgbClr val="2B3A5E"/>
            </a:solidFill>
            <a:prstDash val="solid"/>
          </a:ln>
        </p:spPr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xmlns="" id="{181FE2F8-EE44-4DD9-B1DE-853EE2514DE9}"/>
              </a:ext>
            </a:extLst>
          </p:cNvPr>
          <p:cNvSpPr>
            <a:spLocks noGrp="1"/>
          </p:cNvSpPr>
          <p:nvPr/>
        </p:nvSpPr>
        <p:spPr>
          <a:xfrm>
            <a:off x="7620000" y="2152650"/>
            <a:ext cx="2476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6D7FCF"/>
                </a:solidFill>
              </a:defRPr>
            </a:pPr>
            <a:r>
              <a:rPr sz="1650" b="1">
                <a:solidFill>
                  <a:srgbClr val="6D7FCF"/>
                </a:solidFill>
              </a:rPr>
              <a:t>Expansion path</a:t>
            </a: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xmlns="" id="{45FF23FE-F9F7-472F-BA82-5DF04F7927B3}"/>
              </a:ext>
            </a:extLst>
          </p:cNvPr>
          <p:cNvSpPr>
            <a:spLocks noGrp="1"/>
          </p:cNvSpPr>
          <p:nvPr/>
        </p:nvSpPr>
        <p:spPr>
          <a:xfrm>
            <a:off x="7620000" y="2609850"/>
            <a:ext cx="31432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325" b="1">
                <a:solidFill>
                  <a:srgbClr val="F3F7FF"/>
                </a:solidFill>
              </a:defRPr>
            </a:pPr>
            <a:r>
              <a:rPr sz="2325" b="1">
                <a:solidFill>
                  <a:srgbClr val="F3F7FF"/>
                </a:solidFill>
              </a:rPr>
              <a:t>GIWA Wallet module</a:t>
            </a: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xmlns="" id="{56974E07-DF32-463B-AFF4-98CDDA55296F}"/>
              </a:ext>
            </a:extLst>
          </p:cNvPr>
          <p:cNvSpPr>
            <a:spLocks noGrp="1"/>
          </p:cNvSpPr>
          <p:nvPr/>
        </p:nvSpPr>
        <p:spPr>
          <a:xfrm>
            <a:off x="7620000" y="3333750"/>
            <a:ext cx="3143250" cy="914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0">
                <a:solidFill>
                  <a:srgbClr val="9FB2D8"/>
                </a:solidFill>
              </a:defRPr>
            </a:pPr>
            <a:r>
              <a:rPr sz="1500" b="0">
                <a:solidFill>
                  <a:srgbClr val="9FB2D8"/>
                </a:solidFill>
              </a:rPr>
              <a:t>The same payout logic can become a wallet-native app for team payments, contributor rewards, revenue splits, and payment requests.</a:t>
            </a:r>
          </a:p>
        </p:txBody>
      </p:sp>
      <p:sp>
        <p:nvSpPr>
          <p:cNvPr id="34" name="圆角矩形 33">
            <a:extLst>
              <a:ext uri="{FF2B5EF4-FFF2-40B4-BE49-F238E27FC236}">
                <a16:creationId xmlns:a16="http://schemas.microsoft.com/office/drawing/2014/main" xmlns="" id="{157C1F17-A021-48BF-8482-51E8734C19CE}"/>
              </a:ext>
            </a:extLst>
          </p:cNvPr>
          <p:cNvSpPr>
            <a:spLocks noGrp="1"/>
          </p:cNvSpPr>
          <p:nvPr/>
        </p:nvSpPr>
        <p:spPr>
          <a:xfrm>
            <a:off x="2400300" y="5334000"/>
            <a:ext cx="7391400" cy="457200"/>
          </a:xfrm>
          <a:prstGeom prst="roundRect">
            <a:avLst>
              <a:gd name="adj" fmla="val 50000"/>
            </a:avLst>
          </a:prstGeom>
          <a:solidFill>
            <a:srgbClr val="19E3C2">
              <a:alpha val="8627"/>
            </a:srgbClr>
          </a:solidFill>
          <a:ln w="9525">
            <a:solidFill>
              <a:srgbClr val="19E3C2">
                <a:alpha val="40000"/>
              </a:srgbClr>
            </a:solidFill>
            <a:prstDash val="solid"/>
          </a:ln>
        </p:spPr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xmlns="" id="{5C7AA4C0-3E97-4F5B-8BF7-81237B4B8F29}"/>
              </a:ext>
            </a:extLst>
          </p:cNvPr>
          <p:cNvSpPr>
            <a:spLocks noGrp="1"/>
          </p:cNvSpPr>
          <p:nvPr/>
        </p:nvSpPr>
        <p:spPr>
          <a:xfrm>
            <a:off x="2781300" y="5457825"/>
            <a:ext cx="66294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500" b="1">
                <a:solidFill>
                  <a:srgbClr val="19E3C2"/>
                </a:solidFill>
              </a:defRPr>
            </a:pPr>
            <a:r>
              <a:rPr sz="1500" b="1">
                <a:solidFill>
                  <a:srgbClr val="19E3C2"/>
                </a:solidFill>
              </a:rPr>
              <a:t>Wider reach: from web DApp users to wallet-native GIWA payment workflows</a:t>
            </a: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xmlns="" id="{86E5BEBA-F302-48E8-9941-5AE490900098}"/>
              </a:ext>
            </a:extLst>
          </p:cNvPr>
          <p:cNvSpPr>
            <a:spLocks noGrp="1"/>
          </p:cNvSpPr>
          <p:nvPr/>
        </p:nvSpPr>
        <p:spPr>
          <a:xfrm>
            <a:off x="609600" y="6381750"/>
            <a:ext cx="2476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0">
                <a:solidFill>
                  <a:srgbClr val="9FB2D8"/>
                </a:solidFill>
              </a:defRPr>
            </a:pPr>
            <a:r>
              <a:rPr sz="900" b="0" dirty="0" err="1">
                <a:solidFill>
                  <a:srgbClr val="9FB2D8"/>
                </a:solidFill>
              </a:rPr>
              <a:t>DivvyPay</a:t>
            </a:r>
            <a:r>
              <a:rPr sz="900" b="0" dirty="0">
                <a:solidFill>
                  <a:srgbClr val="9FB2D8"/>
                </a:solidFill>
              </a:rPr>
              <a:t> / GASOK Demo / </a:t>
            </a:r>
            <a:r>
              <a:rPr lang="en-US" sz="900" b="0" dirty="0" smtClean="0">
                <a:solidFill>
                  <a:srgbClr val="9FB2D8"/>
                </a:solidFill>
              </a:rPr>
              <a:t>4</a:t>
            </a:r>
            <a:endParaRPr sz="900" b="0" dirty="0">
              <a:solidFill>
                <a:srgbClr val="9FB2D8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557711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矩形 18">
            <a:extLst>
              <a:ext uri="{FF2B5EF4-FFF2-40B4-BE49-F238E27FC236}">
                <a16:creationId xmlns="" xmlns:a16="http://schemas.microsoft.com/office/drawing/2014/main" id="{5C8BBB65-3E50-457B-993A-2D1BEB13A3CF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3429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>
                <a:solidFill>
                  <a:srgbClr val="19E3C2"/>
                </a:solidFill>
              </a:defRPr>
            </a:pPr>
            <a:r>
              <a:rPr sz="975" b="1">
                <a:solidFill>
                  <a:srgbClr val="19E3C2"/>
                </a:solidFill>
              </a:rPr>
              <a:t>DIVVYPAY</a:t>
            </a:r>
          </a:p>
        </p:txBody>
      </p:sp>
      <p:sp>
        <p:nvSpPr>
          <p:cNvPr id="2" name="矩形 1">
            <a:extLst>
              <a:ext uri="{FF2B5EF4-FFF2-40B4-BE49-F238E27FC236}">
                <a16:creationId xmlns="" xmlns:a16="http://schemas.microsoft.com/office/drawing/2014/main" id="{356B7AC5-FBF9-45BF-8F13-976A46550590}"/>
              </a:ext>
            </a:extLst>
          </p:cNvPr>
          <p:cNvSpPr>
            <a:spLocks noGrp="1"/>
          </p:cNvSpPr>
          <p:nvPr/>
        </p:nvSpPr>
        <p:spPr>
          <a:xfrm>
            <a:off x="609600" y="685800"/>
            <a:ext cx="80010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850" b="1">
                <a:solidFill>
                  <a:srgbClr val="F3F7FF"/>
                </a:solidFill>
              </a:defRPr>
            </a:pPr>
            <a:r>
              <a:rPr sz="2850" b="1">
                <a:solidFill>
                  <a:srgbClr val="F3F7FF"/>
                </a:solidFill>
              </a:rPr>
              <a:t>Demo flow: mint, approve, payout, verify</a:t>
            </a:r>
          </a:p>
        </p:txBody>
      </p:sp>
      <p:sp>
        <p:nvSpPr>
          <p:cNvPr id="3" name="圆角矩形 2">
            <a:extLst>
              <a:ext uri="{FF2B5EF4-FFF2-40B4-BE49-F238E27FC236}">
                <a16:creationId xmlns="" xmlns:a16="http://schemas.microsoft.com/office/drawing/2014/main" id="{7FE94560-216F-4276-ADA8-C775DC333E00}"/>
              </a:ext>
            </a:extLst>
          </p:cNvPr>
          <p:cNvSpPr>
            <a:spLocks noGrp="1"/>
          </p:cNvSpPr>
          <p:nvPr/>
        </p:nvSpPr>
        <p:spPr>
          <a:xfrm>
            <a:off x="1266825" y="2371725"/>
            <a:ext cx="1714500" cy="819150"/>
          </a:xfrm>
          <a:prstGeom prst="roundRect">
            <a:avLst>
              <a:gd name="adj" fmla="val 9302"/>
            </a:avLst>
          </a:prstGeom>
          <a:solidFill>
            <a:srgbClr val="17213A"/>
          </a:solidFill>
          <a:ln w="9525">
            <a:solidFill>
              <a:srgbClr val="2B3A5E"/>
            </a:solidFill>
            <a:prstDash val="solid"/>
          </a:ln>
        </p:spPr>
      </p:sp>
      <p:sp>
        <p:nvSpPr>
          <p:cNvPr id="4" name="矩形 3">
            <a:extLst>
              <a:ext uri="{FF2B5EF4-FFF2-40B4-BE49-F238E27FC236}">
                <a16:creationId xmlns="" xmlns:a16="http://schemas.microsoft.com/office/drawing/2014/main" id="{4E53064A-4CE7-41CB-B340-99553E98011A}"/>
              </a:ext>
            </a:extLst>
          </p:cNvPr>
          <p:cNvSpPr>
            <a:spLocks noGrp="1"/>
          </p:cNvSpPr>
          <p:nvPr/>
        </p:nvSpPr>
        <p:spPr>
          <a:xfrm>
            <a:off x="1381125" y="2466975"/>
            <a:ext cx="13716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500" b="1">
                <a:solidFill>
                  <a:srgbClr val="F3F7FF"/>
                </a:solidFill>
              </a:defRPr>
            </a:pPr>
            <a:r>
              <a:rPr sz="1500" b="1" dirty="0">
                <a:solidFill>
                  <a:srgbClr val="F3F7FF"/>
                </a:solidFill>
              </a:rPr>
              <a:t>Connect</a:t>
            </a:r>
          </a:p>
          <a:p>
            <a:pPr algn="ctr">
              <a:defRPr sz="1500" b="1">
                <a:solidFill>
                  <a:srgbClr val="F3F7FF"/>
                </a:solidFill>
              </a:defRPr>
            </a:pPr>
            <a:r>
              <a:rPr sz="1500" b="1" dirty="0" err="1">
                <a:solidFill>
                  <a:srgbClr val="F3F7FF"/>
                </a:solidFill>
              </a:rPr>
              <a:t>MetaMask</a:t>
            </a:r>
            <a:endParaRPr sz="1500" b="1" dirty="0">
              <a:solidFill>
                <a:srgbClr val="F3F7FF"/>
              </a:solidFill>
            </a:endParaRPr>
          </a:p>
        </p:txBody>
      </p:sp>
      <p:sp>
        <p:nvSpPr>
          <p:cNvPr id="5" name="右箭头 4">
            <a:extLst>
              <a:ext uri="{FF2B5EF4-FFF2-40B4-BE49-F238E27FC236}">
                <a16:creationId xmlns="" xmlns:a16="http://schemas.microsoft.com/office/drawing/2014/main" id="{A4E5F0A3-0F14-48DA-8957-958F02C05962}"/>
              </a:ext>
            </a:extLst>
          </p:cNvPr>
          <p:cNvSpPr>
            <a:spLocks noGrp="1"/>
          </p:cNvSpPr>
          <p:nvPr/>
        </p:nvSpPr>
        <p:spPr>
          <a:xfrm>
            <a:off x="3019425" y="2657475"/>
            <a:ext cx="190500" cy="228600"/>
          </a:xfrm>
          <a:prstGeom prst="rightArrow">
            <a:avLst/>
          </a:prstGeom>
          <a:solidFill>
            <a:srgbClr val="19E3C2"/>
          </a:solidFill>
          <a:ln w="0">
            <a:solidFill>
              <a:srgbClr val="19E3C2"/>
            </a:solidFill>
            <a:prstDash val="solid"/>
          </a:ln>
        </p:spPr>
      </p:sp>
      <p:sp>
        <p:nvSpPr>
          <p:cNvPr id="6" name="圆角矩形 5">
            <a:extLst>
              <a:ext uri="{FF2B5EF4-FFF2-40B4-BE49-F238E27FC236}">
                <a16:creationId xmlns="" xmlns:a16="http://schemas.microsoft.com/office/drawing/2014/main" id="{5E386872-F9D2-4216-92EE-594B23064636}"/>
              </a:ext>
            </a:extLst>
          </p:cNvPr>
          <p:cNvSpPr>
            <a:spLocks noGrp="1"/>
          </p:cNvSpPr>
          <p:nvPr/>
        </p:nvSpPr>
        <p:spPr>
          <a:xfrm>
            <a:off x="3248025" y="2371725"/>
            <a:ext cx="1714500" cy="819150"/>
          </a:xfrm>
          <a:prstGeom prst="roundRect">
            <a:avLst>
              <a:gd name="adj" fmla="val 9302"/>
            </a:avLst>
          </a:prstGeom>
          <a:solidFill>
            <a:srgbClr val="17213A"/>
          </a:solidFill>
          <a:ln w="9525">
            <a:solidFill>
              <a:srgbClr val="2B3A5E"/>
            </a:solidFill>
            <a:prstDash val="solid"/>
          </a:ln>
        </p:spPr>
      </p:sp>
      <p:sp>
        <p:nvSpPr>
          <p:cNvPr id="7" name="矩形 6">
            <a:extLst>
              <a:ext uri="{FF2B5EF4-FFF2-40B4-BE49-F238E27FC236}">
                <a16:creationId xmlns="" xmlns:a16="http://schemas.microsoft.com/office/drawing/2014/main" id="{8DBE212E-D0A2-4888-9EEE-ED2457F720E7}"/>
              </a:ext>
            </a:extLst>
          </p:cNvPr>
          <p:cNvSpPr>
            <a:spLocks noGrp="1"/>
          </p:cNvSpPr>
          <p:nvPr/>
        </p:nvSpPr>
        <p:spPr>
          <a:xfrm>
            <a:off x="3419475" y="2493275"/>
            <a:ext cx="13716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500" b="1">
                <a:solidFill>
                  <a:srgbClr val="F3F7FF"/>
                </a:solidFill>
              </a:defRPr>
            </a:pPr>
            <a:r>
              <a:rPr sz="1500" b="1" dirty="0">
                <a:solidFill>
                  <a:srgbClr val="F3F7FF"/>
                </a:solidFill>
              </a:rPr>
              <a:t>Mint</a:t>
            </a:r>
          </a:p>
          <a:p>
            <a:pPr algn="ctr">
              <a:defRPr sz="1500" b="1">
                <a:solidFill>
                  <a:srgbClr val="F3F7FF"/>
                </a:solidFill>
              </a:defRPr>
            </a:pPr>
            <a:r>
              <a:rPr sz="1500" b="1" dirty="0">
                <a:solidFill>
                  <a:srgbClr val="F3F7FF"/>
                </a:solidFill>
              </a:rPr>
              <a:t>test tokens</a:t>
            </a:r>
          </a:p>
        </p:txBody>
      </p:sp>
      <p:sp>
        <p:nvSpPr>
          <p:cNvPr id="8" name="右箭头 7">
            <a:extLst>
              <a:ext uri="{FF2B5EF4-FFF2-40B4-BE49-F238E27FC236}">
                <a16:creationId xmlns="" xmlns:a16="http://schemas.microsoft.com/office/drawing/2014/main" id="{841BD848-11AD-4B3C-A401-3969D9171BE8}"/>
              </a:ext>
            </a:extLst>
          </p:cNvPr>
          <p:cNvSpPr>
            <a:spLocks noGrp="1"/>
          </p:cNvSpPr>
          <p:nvPr/>
        </p:nvSpPr>
        <p:spPr>
          <a:xfrm>
            <a:off x="5000625" y="2657475"/>
            <a:ext cx="190500" cy="228600"/>
          </a:xfrm>
          <a:prstGeom prst="rightArrow">
            <a:avLst/>
          </a:prstGeom>
          <a:solidFill>
            <a:srgbClr val="19E3C2"/>
          </a:solidFill>
          <a:ln w="0">
            <a:solidFill>
              <a:srgbClr val="19E3C2"/>
            </a:solidFill>
            <a:prstDash val="solid"/>
          </a:ln>
        </p:spPr>
      </p:sp>
      <p:sp>
        <p:nvSpPr>
          <p:cNvPr id="9" name="圆角矩形 8">
            <a:extLst>
              <a:ext uri="{FF2B5EF4-FFF2-40B4-BE49-F238E27FC236}">
                <a16:creationId xmlns="" xmlns:a16="http://schemas.microsoft.com/office/drawing/2014/main" id="{DF57FCCB-5108-4E88-9C17-A4E677A2A1F0}"/>
              </a:ext>
            </a:extLst>
          </p:cNvPr>
          <p:cNvSpPr>
            <a:spLocks noGrp="1"/>
          </p:cNvSpPr>
          <p:nvPr/>
        </p:nvSpPr>
        <p:spPr>
          <a:xfrm>
            <a:off x="5229225" y="2371725"/>
            <a:ext cx="1714500" cy="819150"/>
          </a:xfrm>
          <a:prstGeom prst="roundRect">
            <a:avLst>
              <a:gd name="adj" fmla="val 9302"/>
            </a:avLst>
          </a:prstGeom>
          <a:solidFill>
            <a:srgbClr val="17213A"/>
          </a:solidFill>
          <a:ln w="9525">
            <a:solidFill>
              <a:srgbClr val="2B3A5E"/>
            </a:solidFill>
            <a:prstDash val="solid"/>
          </a:ln>
        </p:spPr>
      </p:sp>
      <p:sp>
        <p:nvSpPr>
          <p:cNvPr id="10" name="矩形 9">
            <a:extLst>
              <a:ext uri="{FF2B5EF4-FFF2-40B4-BE49-F238E27FC236}">
                <a16:creationId xmlns="" xmlns:a16="http://schemas.microsoft.com/office/drawing/2014/main" id="{65A3D7F5-05EF-4FB8-86E9-F4C4E3B33B35}"/>
              </a:ext>
            </a:extLst>
          </p:cNvPr>
          <p:cNvSpPr>
            <a:spLocks noGrp="1"/>
          </p:cNvSpPr>
          <p:nvPr/>
        </p:nvSpPr>
        <p:spPr>
          <a:xfrm>
            <a:off x="5400675" y="2493275"/>
            <a:ext cx="13716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500" b="1">
                <a:solidFill>
                  <a:srgbClr val="F3F7FF"/>
                </a:solidFill>
              </a:defRPr>
            </a:pPr>
            <a:r>
              <a:rPr sz="1500" b="1" dirty="0">
                <a:solidFill>
                  <a:srgbClr val="F3F7FF"/>
                </a:solidFill>
              </a:rPr>
              <a:t>Approve</a:t>
            </a:r>
          </a:p>
          <a:p>
            <a:pPr algn="ctr">
              <a:defRPr sz="1500" b="1">
                <a:solidFill>
                  <a:srgbClr val="F3F7FF"/>
                </a:solidFill>
              </a:defRPr>
            </a:pPr>
            <a:r>
              <a:rPr sz="1500" b="1" dirty="0">
                <a:solidFill>
                  <a:srgbClr val="F3F7FF"/>
                </a:solidFill>
              </a:rPr>
              <a:t>token</a:t>
            </a:r>
          </a:p>
        </p:txBody>
      </p:sp>
      <p:sp>
        <p:nvSpPr>
          <p:cNvPr id="11" name="右箭头 10">
            <a:extLst>
              <a:ext uri="{FF2B5EF4-FFF2-40B4-BE49-F238E27FC236}">
                <a16:creationId xmlns="" xmlns:a16="http://schemas.microsoft.com/office/drawing/2014/main" id="{4EF1559F-9C08-487C-AEA8-8EC5C2036259}"/>
              </a:ext>
            </a:extLst>
          </p:cNvPr>
          <p:cNvSpPr>
            <a:spLocks noGrp="1"/>
          </p:cNvSpPr>
          <p:nvPr/>
        </p:nvSpPr>
        <p:spPr>
          <a:xfrm>
            <a:off x="6981825" y="2657475"/>
            <a:ext cx="190500" cy="228600"/>
          </a:xfrm>
          <a:prstGeom prst="rightArrow">
            <a:avLst/>
          </a:prstGeom>
          <a:solidFill>
            <a:srgbClr val="19E3C2"/>
          </a:solidFill>
          <a:ln w="0">
            <a:solidFill>
              <a:srgbClr val="19E3C2"/>
            </a:solidFill>
            <a:prstDash val="solid"/>
          </a:ln>
        </p:spPr>
      </p:sp>
      <p:sp>
        <p:nvSpPr>
          <p:cNvPr id="12" name="圆角矩形 11">
            <a:extLst>
              <a:ext uri="{FF2B5EF4-FFF2-40B4-BE49-F238E27FC236}">
                <a16:creationId xmlns="" xmlns:a16="http://schemas.microsoft.com/office/drawing/2014/main" id="{52104699-26C3-43E2-B1F6-0096FDCE2D6A}"/>
              </a:ext>
            </a:extLst>
          </p:cNvPr>
          <p:cNvSpPr>
            <a:spLocks noGrp="1"/>
          </p:cNvSpPr>
          <p:nvPr/>
        </p:nvSpPr>
        <p:spPr>
          <a:xfrm>
            <a:off x="7210425" y="2371725"/>
            <a:ext cx="1714500" cy="819150"/>
          </a:xfrm>
          <a:prstGeom prst="roundRect">
            <a:avLst>
              <a:gd name="adj" fmla="val 9302"/>
            </a:avLst>
          </a:prstGeom>
          <a:solidFill>
            <a:srgbClr val="17213A"/>
          </a:solidFill>
          <a:ln w="9525">
            <a:solidFill>
              <a:srgbClr val="2B3A5E"/>
            </a:solidFill>
            <a:prstDash val="solid"/>
          </a:ln>
        </p:spPr>
      </p:sp>
      <p:sp>
        <p:nvSpPr>
          <p:cNvPr id="13" name="矩形 12">
            <a:extLst>
              <a:ext uri="{FF2B5EF4-FFF2-40B4-BE49-F238E27FC236}">
                <a16:creationId xmlns="" xmlns:a16="http://schemas.microsoft.com/office/drawing/2014/main" id="{9DB430A0-1D2E-4549-9B3C-33210A70EC3F}"/>
              </a:ext>
            </a:extLst>
          </p:cNvPr>
          <p:cNvSpPr>
            <a:spLocks noGrp="1"/>
          </p:cNvSpPr>
          <p:nvPr/>
        </p:nvSpPr>
        <p:spPr>
          <a:xfrm>
            <a:off x="7343775" y="2493275"/>
            <a:ext cx="13716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500" b="1">
                <a:solidFill>
                  <a:srgbClr val="F3F7FF"/>
                </a:solidFill>
              </a:defRPr>
            </a:pPr>
            <a:r>
              <a:rPr sz="1500" b="1" dirty="0">
                <a:solidFill>
                  <a:srgbClr val="F3F7FF"/>
                </a:solidFill>
              </a:rPr>
              <a:t>Send</a:t>
            </a:r>
          </a:p>
          <a:p>
            <a:pPr algn="ctr">
              <a:defRPr sz="1500" b="1">
                <a:solidFill>
                  <a:srgbClr val="F3F7FF"/>
                </a:solidFill>
              </a:defRPr>
            </a:pPr>
            <a:r>
              <a:rPr sz="1500" b="1" dirty="0">
                <a:solidFill>
                  <a:srgbClr val="F3F7FF"/>
                </a:solidFill>
              </a:rPr>
              <a:t>payout</a:t>
            </a:r>
          </a:p>
        </p:txBody>
      </p:sp>
      <p:sp>
        <p:nvSpPr>
          <p:cNvPr id="14" name="右箭头 13">
            <a:extLst>
              <a:ext uri="{FF2B5EF4-FFF2-40B4-BE49-F238E27FC236}">
                <a16:creationId xmlns="" xmlns:a16="http://schemas.microsoft.com/office/drawing/2014/main" id="{7D389E54-55F7-4BE5-9B1D-F573C22CC9C1}"/>
              </a:ext>
            </a:extLst>
          </p:cNvPr>
          <p:cNvSpPr>
            <a:spLocks noGrp="1"/>
          </p:cNvSpPr>
          <p:nvPr/>
        </p:nvSpPr>
        <p:spPr>
          <a:xfrm>
            <a:off x="8963025" y="2657475"/>
            <a:ext cx="190500" cy="228600"/>
          </a:xfrm>
          <a:prstGeom prst="rightArrow">
            <a:avLst/>
          </a:prstGeom>
          <a:solidFill>
            <a:srgbClr val="19E3C2"/>
          </a:solidFill>
          <a:ln w="0">
            <a:solidFill>
              <a:srgbClr val="19E3C2"/>
            </a:solidFill>
            <a:prstDash val="solid"/>
          </a:ln>
        </p:spPr>
      </p:sp>
      <p:sp>
        <p:nvSpPr>
          <p:cNvPr id="15" name="圆角矩形 14">
            <a:extLst>
              <a:ext uri="{FF2B5EF4-FFF2-40B4-BE49-F238E27FC236}">
                <a16:creationId xmlns="" xmlns:a16="http://schemas.microsoft.com/office/drawing/2014/main" id="{4A908E9F-F6FB-41B5-AD05-FF48E78AD81C}"/>
              </a:ext>
            </a:extLst>
          </p:cNvPr>
          <p:cNvSpPr>
            <a:spLocks noGrp="1"/>
          </p:cNvSpPr>
          <p:nvPr/>
        </p:nvSpPr>
        <p:spPr>
          <a:xfrm>
            <a:off x="9191625" y="2371725"/>
            <a:ext cx="1714500" cy="819150"/>
          </a:xfrm>
          <a:prstGeom prst="roundRect">
            <a:avLst>
              <a:gd name="adj" fmla="val 9302"/>
            </a:avLst>
          </a:prstGeom>
          <a:solidFill>
            <a:srgbClr val="17213A"/>
          </a:solidFill>
          <a:ln w="9525">
            <a:solidFill>
              <a:srgbClr val="2B3A5E"/>
            </a:solidFill>
            <a:prstDash val="solid"/>
          </a:ln>
        </p:spPr>
      </p:sp>
      <p:sp>
        <p:nvSpPr>
          <p:cNvPr id="16" name="矩形 15">
            <a:extLst>
              <a:ext uri="{FF2B5EF4-FFF2-40B4-BE49-F238E27FC236}">
                <a16:creationId xmlns="" xmlns:a16="http://schemas.microsoft.com/office/drawing/2014/main" id="{1FFEE94A-B30C-4568-8E05-088350F9FD44}"/>
              </a:ext>
            </a:extLst>
          </p:cNvPr>
          <p:cNvSpPr>
            <a:spLocks noGrp="1"/>
          </p:cNvSpPr>
          <p:nvPr/>
        </p:nvSpPr>
        <p:spPr>
          <a:xfrm>
            <a:off x="9363075" y="2509482"/>
            <a:ext cx="13716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500" b="1">
                <a:solidFill>
                  <a:srgbClr val="F3F7FF"/>
                </a:solidFill>
              </a:defRPr>
            </a:pPr>
            <a:r>
              <a:rPr sz="1500" b="1" dirty="0">
                <a:solidFill>
                  <a:srgbClr val="F3F7FF"/>
                </a:solidFill>
              </a:rPr>
              <a:t>Verify</a:t>
            </a:r>
          </a:p>
          <a:p>
            <a:pPr algn="ctr">
              <a:defRPr sz="1500" b="1">
                <a:solidFill>
                  <a:srgbClr val="F3F7FF"/>
                </a:solidFill>
              </a:defRPr>
            </a:pPr>
            <a:r>
              <a:rPr sz="1500" b="1" dirty="0">
                <a:solidFill>
                  <a:srgbClr val="F3F7FF"/>
                </a:solidFill>
              </a:rPr>
              <a:t>history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="" xmlns:a16="http://schemas.microsoft.com/office/drawing/2014/main" id="{0CF8EF60-ADA6-40A1-B844-A93ACC8B93FE}"/>
              </a:ext>
            </a:extLst>
          </p:cNvPr>
          <p:cNvSpPr>
            <a:spLocks noGrp="1"/>
          </p:cNvSpPr>
          <p:nvPr/>
        </p:nvSpPr>
        <p:spPr>
          <a:xfrm>
            <a:off x="1285875" y="4095750"/>
            <a:ext cx="96202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800" b="0">
                <a:solidFill>
                  <a:srgbClr val="9FB2D8"/>
                </a:solidFill>
              </a:defRPr>
            </a:pPr>
            <a:r>
              <a:rPr sz="1800" b="0">
                <a:solidFill>
                  <a:srgbClr val="9FB2D8"/>
                </a:solidFill>
              </a:rPr>
              <a:t>Designed for a live hackathon demo: the full path fits on one screen and produces explorer-verifiable transactions.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="" xmlns:a16="http://schemas.microsoft.com/office/drawing/2014/main" id="{DDBC2858-63FA-42E8-8087-95D456FA3710}"/>
              </a:ext>
            </a:extLst>
          </p:cNvPr>
          <p:cNvSpPr>
            <a:spLocks noGrp="1"/>
          </p:cNvSpPr>
          <p:nvPr/>
        </p:nvSpPr>
        <p:spPr>
          <a:xfrm>
            <a:off x="609600" y="6381750"/>
            <a:ext cx="2476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0">
                <a:solidFill>
                  <a:srgbClr val="9FB2D8"/>
                </a:solidFill>
              </a:defRPr>
            </a:pPr>
            <a:r>
              <a:rPr sz="900" b="0" dirty="0" err="1">
                <a:solidFill>
                  <a:srgbClr val="9FB2D8"/>
                </a:solidFill>
              </a:rPr>
              <a:t>DivvyPay</a:t>
            </a:r>
            <a:r>
              <a:rPr sz="900" b="0" dirty="0">
                <a:solidFill>
                  <a:srgbClr val="9FB2D8"/>
                </a:solidFill>
              </a:rPr>
              <a:t> / GASOK Demo / </a:t>
            </a:r>
            <a:r>
              <a:rPr lang="en-US" sz="900" b="0" dirty="0" smtClean="0">
                <a:solidFill>
                  <a:srgbClr val="9FB2D8"/>
                </a:solidFill>
              </a:rPr>
              <a:t>5</a:t>
            </a:r>
            <a:endParaRPr sz="900" b="0" dirty="0">
              <a:solidFill>
                <a:srgbClr val="9FB2D8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93553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矩形 15">
            <a:extLst>
              <a:ext uri="{FF2B5EF4-FFF2-40B4-BE49-F238E27FC236}">
                <a16:creationId xmlns="" xmlns:a16="http://schemas.microsoft.com/office/drawing/2014/main" id="{3B9930BD-A7AB-43E5-A66C-E0D336CAAC14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3429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>
                <a:solidFill>
                  <a:srgbClr val="19E3C2"/>
                </a:solidFill>
              </a:defRPr>
            </a:pPr>
            <a:r>
              <a:rPr sz="975" b="1">
                <a:solidFill>
                  <a:srgbClr val="19E3C2"/>
                </a:solidFill>
              </a:rPr>
              <a:t>DIVVYPAY</a:t>
            </a:r>
          </a:p>
        </p:txBody>
      </p:sp>
      <p:sp>
        <p:nvSpPr>
          <p:cNvPr id="2" name="矩形 1">
            <a:extLst>
              <a:ext uri="{FF2B5EF4-FFF2-40B4-BE49-F238E27FC236}">
                <a16:creationId xmlns="" xmlns:a16="http://schemas.microsoft.com/office/drawing/2014/main" id="{EED96AA9-8A71-4802-AB2E-98A7C4B8E2FC}"/>
              </a:ext>
            </a:extLst>
          </p:cNvPr>
          <p:cNvSpPr>
            <a:spLocks noGrp="1"/>
          </p:cNvSpPr>
          <p:nvPr/>
        </p:nvSpPr>
        <p:spPr>
          <a:xfrm>
            <a:off x="609600" y="685800"/>
            <a:ext cx="80010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850" b="1">
                <a:solidFill>
                  <a:srgbClr val="F3F7FF"/>
                </a:solidFill>
              </a:defRPr>
            </a:pPr>
            <a:r>
              <a:rPr sz="2850" b="1">
                <a:solidFill>
                  <a:srgbClr val="F3F7FF"/>
                </a:solidFill>
              </a:rPr>
              <a:t>Why GIWA fits payout-heavy workflows</a:t>
            </a:r>
          </a:p>
        </p:txBody>
      </p:sp>
      <p:sp>
        <p:nvSpPr>
          <p:cNvPr id="3" name="圆角矩形 2">
            <a:extLst>
              <a:ext uri="{FF2B5EF4-FFF2-40B4-BE49-F238E27FC236}">
                <a16:creationId xmlns="" xmlns:a16="http://schemas.microsoft.com/office/drawing/2014/main" id="{907F68BE-8CAC-4C9F-BA51-4DBD3D64FF07}"/>
              </a:ext>
            </a:extLst>
          </p:cNvPr>
          <p:cNvSpPr>
            <a:spLocks noGrp="1"/>
          </p:cNvSpPr>
          <p:nvPr/>
        </p:nvSpPr>
        <p:spPr>
          <a:xfrm>
            <a:off x="1143000" y="1809750"/>
            <a:ext cx="2095500" cy="323850"/>
          </a:xfrm>
          <a:prstGeom prst="roundRect">
            <a:avLst>
              <a:gd name="adj" fmla="val 50000"/>
            </a:avLst>
          </a:prstGeom>
          <a:solidFill>
            <a:srgbClr val="19E3C2">
              <a:alpha val="13333"/>
            </a:srgbClr>
          </a:solidFill>
          <a:ln w="9525">
            <a:solidFill>
              <a:srgbClr val="19E3C2">
                <a:alpha val="46667"/>
              </a:srgbClr>
            </a:solidFill>
            <a:prstDash val="solid"/>
          </a:ln>
        </p:spPr>
      </p:sp>
      <p:sp>
        <p:nvSpPr>
          <p:cNvPr id="4" name="矩形 3">
            <a:extLst>
              <a:ext uri="{FF2B5EF4-FFF2-40B4-BE49-F238E27FC236}">
                <a16:creationId xmlns="" xmlns:a16="http://schemas.microsoft.com/office/drawing/2014/main" id="{8CEDA194-5D7E-4A13-B5BC-DD6388B1A9BC}"/>
              </a:ext>
            </a:extLst>
          </p:cNvPr>
          <p:cNvSpPr>
            <a:spLocks noGrp="1"/>
          </p:cNvSpPr>
          <p:nvPr/>
        </p:nvSpPr>
        <p:spPr>
          <a:xfrm>
            <a:off x="1295400" y="1809750"/>
            <a:ext cx="17907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19E3C2"/>
                </a:solidFill>
              </a:defRPr>
            </a:pPr>
            <a:r>
              <a:rPr sz="1600" b="1" dirty="0">
                <a:solidFill>
                  <a:srgbClr val="19E3C2"/>
                </a:solidFill>
              </a:rPr>
              <a:t>Low gas</a:t>
            </a:r>
          </a:p>
        </p:txBody>
      </p:sp>
      <p:sp>
        <p:nvSpPr>
          <p:cNvPr id="5" name="矩形 4">
            <a:extLst>
              <a:ext uri="{FF2B5EF4-FFF2-40B4-BE49-F238E27FC236}">
                <a16:creationId xmlns="" xmlns:a16="http://schemas.microsoft.com/office/drawing/2014/main" id="{A0F102EC-B572-4B45-A39C-464D5E8D2DE0}"/>
              </a:ext>
            </a:extLst>
          </p:cNvPr>
          <p:cNvSpPr>
            <a:spLocks noGrp="1"/>
          </p:cNvSpPr>
          <p:nvPr/>
        </p:nvSpPr>
        <p:spPr>
          <a:xfrm>
            <a:off x="3714750" y="1838325"/>
            <a:ext cx="6858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950" b="0">
                <a:solidFill>
                  <a:srgbClr val="F3F7FF"/>
                </a:solidFill>
              </a:defRPr>
            </a:pPr>
            <a:r>
              <a:rPr sz="1950" b="0">
                <a:solidFill>
                  <a:srgbClr val="F3F7FF"/>
                </a:solidFill>
              </a:rPr>
              <a:t>Makes multi-recipient payouts practical.</a:t>
            </a:r>
          </a:p>
        </p:txBody>
      </p:sp>
      <p:sp>
        <p:nvSpPr>
          <p:cNvPr id="6" name="圆角矩形 5">
            <a:extLst>
              <a:ext uri="{FF2B5EF4-FFF2-40B4-BE49-F238E27FC236}">
                <a16:creationId xmlns="" xmlns:a16="http://schemas.microsoft.com/office/drawing/2014/main" id="{7B561184-A3DA-459E-85B1-CF79CF4E4DD7}"/>
              </a:ext>
            </a:extLst>
          </p:cNvPr>
          <p:cNvSpPr>
            <a:spLocks noGrp="1"/>
          </p:cNvSpPr>
          <p:nvPr/>
        </p:nvSpPr>
        <p:spPr>
          <a:xfrm>
            <a:off x="1104900" y="2362200"/>
            <a:ext cx="9525000" cy="19050"/>
          </a:xfrm>
          <a:prstGeom prst="roundRect">
            <a:avLst>
              <a:gd name="adj" fmla="val 50000"/>
            </a:avLst>
          </a:prstGeom>
          <a:solidFill>
            <a:srgbClr val="2B3A5E"/>
          </a:solidFill>
          <a:ln w="0">
            <a:solidFill>
              <a:srgbClr val="2B3A5E"/>
            </a:solidFill>
            <a:prstDash val="solid"/>
          </a:ln>
        </p:spPr>
      </p:sp>
      <p:sp>
        <p:nvSpPr>
          <p:cNvPr id="7" name="圆角矩形 6">
            <a:extLst>
              <a:ext uri="{FF2B5EF4-FFF2-40B4-BE49-F238E27FC236}">
                <a16:creationId xmlns="" xmlns:a16="http://schemas.microsoft.com/office/drawing/2014/main" id="{27533439-1F32-4C79-B61D-0C05F92EE227}"/>
              </a:ext>
            </a:extLst>
          </p:cNvPr>
          <p:cNvSpPr>
            <a:spLocks noGrp="1"/>
          </p:cNvSpPr>
          <p:nvPr/>
        </p:nvSpPr>
        <p:spPr>
          <a:xfrm>
            <a:off x="1143000" y="2933700"/>
            <a:ext cx="2095500" cy="323850"/>
          </a:xfrm>
          <a:prstGeom prst="roundRect">
            <a:avLst>
              <a:gd name="adj" fmla="val 50000"/>
            </a:avLst>
          </a:prstGeom>
          <a:solidFill>
            <a:srgbClr val="6D7FCF">
              <a:alpha val="13333"/>
            </a:srgbClr>
          </a:solidFill>
          <a:ln w="9525">
            <a:solidFill>
              <a:srgbClr val="6D7FCF">
                <a:alpha val="46667"/>
              </a:srgbClr>
            </a:solidFill>
            <a:prstDash val="solid"/>
          </a:ln>
        </p:spPr>
      </p:sp>
      <p:sp>
        <p:nvSpPr>
          <p:cNvPr id="8" name="矩形 7">
            <a:extLst>
              <a:ext uri="{FF2B5EF4-FFF2-40B4-BE49-F238E27FC236}">
                <a16:creationId xmlns="" xmlns:a16="http://schemas.microsoft.com/office/drawing/2014/main" id="{665914E5-4BF6-4B68-8E42-CF56190BADE5}"/>
              </a:ext>
            </a:extLst>
          </p:cNvPr>
          <p:cNvSpPr>
            <a:spLocks noGrp="1"/>
          </p:cNvSpPr>
          <p:nvPr/>
        </p:nvSpPr>
        <p:spPr>
          <a:xfrm>
            <a:off x="1295400" y="2921000"/>
            <a:ext cx="17907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6D7FCF"/>
                </a:solidFill>
              </a:defRPr>
            </a:pPr>
            <a:r>
              <a:rPr sz="1600" b="1" dirty="0">
                <a:solidFill>
                  <a:srgbClr val="6D7FCF"/>
                </a:solidFill>
              </a:rPr>
              <a:t>Fast confirmation</a:t>
            </a:r>
          </a:p>
        </p:txBody>
      </p:sp>
      <p:sp>
        <p:nvSpPr>
          <p:cNvPr id="9" name="矩形 8">
            <a:extLst>
              <a:ext uri="{FF2B5EF4-FFF2-40B4-BE49-F238E27FC236}">
                <a16:creationId xmlns="" xmlns:a16="http://schemas.microsoft.com/office/drawing/2014/main" id="{1964D5A2-D6C8-49F8-B099-9747704C8EF6}"/>
              </a:ext>
            </a:extLst>
          </p:cNvPr>
          <p:cNvSpPr>
            <a:spLocks noGrp="1"/>
          </p:cNvSpPr>
          <p:nvPr/>
        </p:nvSpPr>
        <p:spPr>
          <a:xfrm>
            <a:off x="3714750" y="2962275"/>
            <a:ext cx="6858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950" b="0">
                <a:solidFill>
                  <a:srgbClr val="F3F7FF"/>
                </a:solidFill>
              </a:defRPr>
            </a:pPr>
            <a:r>
              <a:rPr sz="1950" b="0">
                <a:solidFill>
                  <a:srgbClr val="F3F7FF"/>
                </a:solidFill>
              </a:rPr>
              <a:t>Keeps payout verification close to fintech expectations.</a:t>
            </a:r>
          </a:p>
        </p:txBody>
      </p:sp>
      <p:sp>
        <p:nvSpPr>
          <p:cNvPr id="10" name="圆角矩形 9">
            <a:extLst>
              <a:ext uri="{FF2B5EF4-FFF2-40B4-BE49-F238E27FC236}">
                <a16:creationId xmlns="" xmlns:a16="http://schemas.microsoft.com/office/drawing/2014/main" id="{861082A1-E2DA-45B4-8E4F-BB56713EA663}"/>
              </a:ext>
            </a:extLst>
          </p:cNvPr>
          <p:cNvSpPr>
            <a:spLocks noGrp="1"/>
          </p:cNvSpPr>
          <p:nvPr/>
        </p:nvSpPr>
        <p:spPr>
          <a:xfrm>
            <a:off x="1104900" y="3486150"/>
            <a:ext cx="9525000" cy="19050"/>
          </a:xfrm>
          <a:prstGeom prst="roundRect">
            <a:avLst>
              <a:gd name="adj" fmla="val 50000"/>
            </a:avLst>
          </a:prstGeom>
          <a:solidFill>
            <a:srgbClr val="2B3A5E"/>
          </a:solidFill>
          <a:ln w="0">
            <a:solidFill>
              <a:srgbClr val="2B3A5E"/>
            </a:solidFill>
            <a:prstDash val="solid"/>
          </a:ln>
        </p:spPr>
      </p:sp>
      <p:sp>
        <p:nvSpPr>
          <p:cNvPr id="11" name="圆角矩形 10">
            <a:extLst>
              <a:ext uri="{FF2B5EF4-FFF2-40B4-BE49-F238E27FC236}">
                <a16:creationId xmlns="" xmlns:a16="http://schemas.microsoft.com/office/drawing/2014/main" id="{2CDEAA59-CCC2-4DAF-901A-3A1A5BF2A542}"/>
              </a:ext>
            </a:extLst>
          </p:cNvPr>
          <p:cNvSpPr>
            <a:spLocks noGrp="1"/>
          </p:cNvSpPr>
          <p:nvPr/>
        </p:nvSpPr>
        <p:spPr>
          <a:xfrm>
            <a:off x="1143000" y="4057650"/>
            <a:ext cx="2095500" cy="323850"/>
          </a:xfrm>
          <a:prstGeom prst="roundRect">
            <a:avLst>
              <a:gd name="adj" fmla="val 50000"/>
            </a:avLst>
          </a:prstGeom>
          <a:solidFill>
            <a:srgbClr val="19E3C2">
              <a:alpha val="13333"/>
            </a:srgbClr>
          </a:solidFill>
          <a:ln w="9525">
            <a:solidFill>
              <a:srgbClr val="19E3C2">
                <a:alpha val="46667"/>
              </a:srgbClr>
            </a:solidFill>
            <a:prstDash val="solid"/>
          </a:ln>
        </p:spPr>
      </p:sp>
      <p:sp>
        <p:nvSpPr>
          <p:cNvPr id="12" name="矩形 11">
            <a:extLst>
              <a:ext uri="{FF2B5EF4-FFF2-40B4-BE49-F238E27FC236}">
                <a16:creationId xmlns="" xmlns:a16="http://schemas.microsoft.com/office/drawing/2014/main" id="{882F92AB-008C-41A5-A82F-E9D42CB3EF2D}"/>
              </a:ext>
            </a:extLst>
          </p:cNvPr>
          <p:cNvSpPr>
            <a:spLocks noGrp="1"/>
          </p:cNvSpPr>
          <p:nvPr/>
        </p:nvSpPr>
        <p:spPr>
          <a:xfrm>
            <a:off x="1295400" y="4057650"/>
            <a:ext cx="17907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19E3C2"/>
                </a:solidFill>
              </a:defRPr>
            </a:pPr>
            <a:r>
              <a:rPr sz="1600" b="1" dirty="0">
                <a:solidFill>
                  <a:srgbClr val="19E3C2"/>
                </a:solidFill>
              </a:rPr>
              <a:t>Wallet-native path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="" xmlns:a16="http://schemas.microsoft.com/office/drawing/2014/main" id="{33321F21-FAA9-4E9D-8AA5-6619C385375C}"/>
              </a:ext>
            </a:extLst>
          </p:cNvPr>
          <p:cNvSpPr>
            <a:spLocks noGrp="1"/>
          </p:cNvSpPr>
          <p:nvPr/>
        </p:nvSpPr>
        <p:spPr>
          <a:xfrm>
            <a:off x="3714750" y="3886200"/>
            <a:ext cx="6858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950" b="0">
                <a:solidFill>
                  <a:srgbClr val="F3F7FF"/>
                </a:solidFill>
              </a:defRPr>
            </a:pPr>
            <a:r>
              <a:rPr sz="1950" b="0" dirty="0" err="1">
                <a:solidFill>
                  <a:srgbClr val="F3F7FF"/>
                </a:solidFill>
              </a:rPr>
              <a:t>DivvyPay</a:t>
            </a:r>
            <a:r>
              <a:rPr sz="1950" b="0" dirty="0">
                <a:solidFill>
                  <a:srgbClr val="F3F7FF"/>
                </a:solidFill>
              </a:rPr>
              <a:t> can grow from a standalone </a:t>
            </a:r>
            <a:r>
              <a:rPr sz="1950" b="0" dirty="0" err="1">
                <a:solidFill>
                  <a:srgbClr val="F3F7FF"/>
                </a:solidFill>
              </a:rPr>
              <a:t>DApp</a:t>
            </a:r>
            <a:r>
              <a:rPr sz="1950" b="0" dirty="0">
                <a:solidFill>
                  <a:srgbClr val="F3F7FF"/>
                </a:solidFill>
              </a:rPr>
              <a:t> into a payout module inside GIWA Wallet.</a:t>
            </a:r>
          </a:p>
        </p:txBody>
      </p:sp>
      <p:sp>
        <p:nvSpPr>
          <p:cNvPr id="14" name="圆角矩形 13">
            <a:extLst>
              <a:ext uri="{FF2B5EF4-FFF2-40B4-BE49-F238E27FC236}">
                <a16:creationId xmlns="" xmlns:a16="http://schemas.microsoft.com/office/drawing/2014/main" id="{6DF75191-EFBD-4116-BCF8-5A1D4BCB87FB}"/>
              </a:ext>
            </a:extLst>
          </p:cNvPr>
          <p:cNvSpPr>
            <a:spLocks noGrp="1"/>
          </p:cNvSpPr>
          <p:nvPr/>
        </p:nvSpPr>
        <p:spPr>
          <a:xfrm>
            <a:off x="1104900" y="4610100"/>
            <a:ext cx="9525000" cy="19050"/>
          </a:xfrm>
          <a:prstGeom prst="roundRect">
            <a:avLst>
              <a:gd name="adj" fmla="val 50000"/>
            </a:avLst>
          </a:prstGeom>
          <a:solidFill>
            <a:srgbClr val="2B3A5E"/>
          </a:solidFill>
          <a:ln w="0">
            <a:solidFill>
              <a:srgbClr val="2B3A5E"/>
            </a:solidFill>
            <a:prstDash val="solid"/>
          </a:ln>
        </p:spPr>
      </p:sp>
      <p:sp>
        <p:nvSpPr>
          <p:cNvPr id="15" name="矩形 14">
            <a:extLst>
              <a:ext uri="{FF2B5EF4-FFF2-40B4-BE49-F238E27FC236}">
                <a16:creationId xmlns="" xmlns:a16="http://schemas.microsoft.com/office/drawing/2014/main" id="{97A01A14-C244-4FCA-809A-43AA67B50281}"/>
              </a:ext>
            </a:extLst>
          </p:cNvPr>
          <p:cNvSpPr>
            <a:spLocks noGrp="1"/>
          </p:cNvSpPr>
          <p:nvPr/>
        </p:nvSpPr>
        <p:spPr>
          <a:xfrm>
            <a:off x="609600" y="6381750"/>
            <a:ext cx="2476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0">
                <a:solidFill>
                  <a:srgbClr val="9FB2D8"/>
                </a:solidFill>
              </a:defRPr>
            </a:pPr>
            <a:r>
              <a:rPr sz="900" b="0" dirty="0" err="1">
                <a:solidFill>
                  <a:srgbClr val="9FB2D8"/>
                </a:solidFill>
              </a:rPr>
              <a:t>DivvyPay</a:t>
            </a:r>
            <a:r>
              <a:rPr sz="900" b="0" dirty="0">
                <a:solidFill>
                  <a:srgbClr val="9FB2D8"/>
                </a:solidFill>
              </a:rPr>
              <a:t> / GASOK Demo / </a:t>
            </a:r>
            <a:r>
              <a:rPr lang="en-US" sz="900" b="0" dirty="0" smtClean="0">
                <a:solidFill>
                  <a:srgbClr val="9FB2D8"/>
                </a:solidFill>
              </a:rPr>
              <a:t>6</a:t>
            </a:r>
            <a:endParaRPr sz="900" b="0" dirty="0">
              <a:solidFill>
                <a:srgbClr val="9FB2D8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749395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矩形 14">
            <a:extLst>
              <a:ext uri="{FF2B5EF4-FFF2-40B4-BE49-F238E27FC236}">
                <a16:creationId xmlns="" xmlns:a16="http://schemas.microsoft.com/office/drawing/2014/main" id="{C9D08081-65AE-4826-93E8-28ACFE0C74EC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3429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>
                <a:solidFill>
                  <a:srgbClr val="19E3C2"/>
                </a:solidFill>
              </a:defRPr>
            </a:pPr>
            <a:r>
              <a:rPr sz="975" b="1">
                <a:solidFill>
                  <a:srgbClr val="19E3C2"/>
                </a:solidFill>
              </a:rPr>
              <a:t>DIVVYPAY</a:t>
            </a:r>
          </a:p>
        </p:txBody>
      </p:sp>
      <p:sp>
        <p:nvSpPr>
          <p:cNvPr id="2" name="矩形 1">
            <a:extLst>
              <a:ext uri="{FF2B5EF4-FFF2-40B4-BE49-F238E27FC236}">
                <a16:creationId xmlns="" xmlns:a16="http://schemas.microsoft.com/office/drawing/2014/main" id="{820D2FA7-E9D6-43DE-8B6F-A6C8A16E7314}"/>
              </a:ext>
            </a:extLst>
          </p:cNvPr>
          <p:cNvSpPr>
            <a:spLocks noGrp="1"/>
          </p:cNvSpPr>
          <p:nvPr/>
        </p:nvSpPr>
        <p:spPr>
          <a:xfrm>
            <a:off x="609600" y="685800"/>
            <a:ext cx="80010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850" b="1">
                <a:solidFill>
                  <a:srgbClr val="F3F7FF"/>
                </a:solidFill>
              </a:defRPr>
            </a:pPr>
            <a:r>
              <a:rPr sz="2850" b="1">
                <a:solidFill>
                  <a:srgbClr val="F3F7FF"/>
                </a:solidFill>
              </a:rPr>
              <a:t>The MVP is small, but fully on-chain</a:t>
            </a:r>
          </a:p>
        </p:txBody>
      </p:sp>
      <p:sp>
        <p:nvSpPr>
          <p:cNvPr id="3" name="圆角矩形 2">
            <a:extLst>
              <a:ext uri="{FF2B5EF4-FFF2-40B4-BE49-F238E27FC236}">
                <a16:creationId xmlns="" xmlns:a16="http://schemas.microsoft.com/office/drawing/2014/main" id="{2F064FF6-9C6C-472D-976A-6A048F156F11}"/>
              </a:ext>
            </a:extLst>
          </p:cNvPr>
          <p:cNvSpPr>
            <a:spLocks noGrp="1"/>
          </p:cNvSpPr>
          <p:nvPr/>
        </p:nvSpPr>
        <p:spPr>
          <a:xfrm>
            <a:off x="2112559" y="1768522"/>
            <a:ext cx="2667000" cy="1143000"/>
          </a:xfrm>
          <a:prstGeom prst="roundRect">
            <a:avLst>
              <a:gd name="adj" fmla="val 6667"/>
            </a:avLst>
          </a:prstGeom>
          <a:solidFill>
            <a:srgbClr val="17213A"/>
          </a:solidFill>
          <a:ln w="9525">
            <a:solidFill>
              <a:srgbClr val="2B3A5E"/>
            </a:solidFill>
            <a:prstDash val="solid"/>
          </a:ln>
        </p:spPr>
      </p:sp>
      <p:sp>
        <p:nvSpPr>
          <p:cNvPr id="4" name="矩形 3">
            <a:extLst>
              <a:ext uri="{FF2B5EF4-FFF2-40B4-BE49-F238E27FC236}">
                <a16:creationId xmlns="" xmlns:a16="http://schemas.microsoft.com/office/drawing/2014/main" id="{EDCAA7F8-8E50-47A7-BF50-27783DDC1514}"/>
              </a:ext>
            </a:extLst>
          </p:cNvPr>
          <p:cNvSpPr>
            <a:spLocks noGrp="1"/>
          </p:cNvSpPr>
          <p:nvPr/>
        </p:nvSpPr>
        <p:spPr>
          <a:xfrm>
            <a:off x="2398309" y="1895522"/>
            <a:ext cx="2095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950" b="1">
                <a:solidFill>
                  <a:srgbClr val="F3F7FF"/>
                </a:solidFill>
              </a:defRPr>
            </a:pPr>
            <a:r>
              <a:rPr sz="1950" b="1" dirty="0" err="1">
                <a:solidFill>
                  <a:srgbClr val="F3F7FF"/>
                </a:solidFill>
              </a:rPr>
              <a:t>MockUSDC</a:t>
            </a:r>
            <a:endParaRPr sz="1950" b="1" dirty="0">
              <a:solidFill>
                <a:srgbClr val="F3F7FF"/>
              </a:solidFill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="" xmlns:a16="http://schemas.microsoft.com/office/drawing/2014/main" id="{7E737241-926B-46DD-B6A4-422030706C7F}"/>
              </a:ext>
            </a:extLst>
          </p:cNvPr>
          <p:cNvSpPr>
            <a:spLocks noGrp="1"/>
          </p:cNvSpPr>
          <p:nvPr/>
        </p:nvSpPr>
        <p:spPr>
          <a:xfrm>
            <a:off x="2398309" y="2276522"/>
            <a:ext cx="2095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9FB2D8"/>
                </a:solidFill>
              </a:defRPr>
            </a:pPr>
            <a:r>
              <a:rPr sz="1350" b="0" dirty="0">
                <a:solidFill>
                  <a:srgbClr val="9FB2D8"/>
                </a:solidFill>
              </a:rPr>
              <a:t>6 decimals</a:t>
            </a:r>
          </a:p>
          <a:p>
            <a:pPr algn="l">
              <a:defRPr sz="1350" b="0">
                <a:solidFill>
                  <a:srgbClr val="9FB2D8"/>
                </a:solidFill>
              </a:defRPr>
            </a:pPr>
            <a:r>
              <a:rPr sz="1350" b="0" dirty="0">
                <a:solidFill>
                  <a:srgbClr val="9FB2D8"/>
                </a:solidFill>
              </a:rPr>
              <a:t>public mint()</a:t>
            </a:r>
          </a:p>
        </p:txBody>
      </p:sp>
      <p:sp>
        <p:nvSpPr>
          <p:cNvPr id="6" name="圆角矩形 5">
            <a:extLst>
              <a:ext uri="{FF2B5EF4-FFF2-40B4-BE49-F238E27FC236}">
                <a16:creationId xmlns="" xmlns:a16="http://schemas.microsoft.com/office/drawing/2014/main" id="{2BA2824A-E81C-481A-9859-EC1693616C0C}"/>
              </a:ext>
            </a:extLst>
          </p:cNvPr>
          <p:cNvSpPr>
            <a:spLocks noGrp="1"/>
          </p:cNvSpPr>
          <p:nvPr/>
        </p:nvSpPr>
        <p:spPr>
          <a:xfrm>
            <a:off x="2112559" y="3673522"/>
            <a:ext cx="2667000" cy="1143000"/>
          </a:xfrm>
          <a:prstGeom prst="roundRect">
            <a:avLst>
              <a:gd name="adj" fmla="val 6667"/>
            </a:avLst>
          </a:prstGeom>
          <a:solidFill>
            <a:srgbClr val="17213A"/>
          </a:solidFill>
          <a:ln w="9525">
            <a:solidFill>
              <a:srgbClr val="2B3A5E"/>
            </a:solidFill>
            <a:prstDash val="solid"/>
          </a:ln>
        </p:spPr>
      </p:sp>
      <p:sp>
        <p:nvSpPr>
          <p:cNvPr id="7" name="矩形 6">
            <a:extLst>
              <a:ext uri="{FF2B5EF4-FFF2-40B4-BE49-F238E27FC236}">
                <a16:creationId xmlns="" xmlns:a16="http://schemas.microsoft.com/office/drawing/2014/main" id="{4F71DECB-2CD2-4C71-9E30-1A09BE6CC82E}"/>
              </a:ext>
            </a:extLst>
          </p:cNvPr>
          <p:cNvSpPr>
            <a:spLocks noGrp="1"/>
          </p:cNvSpPr>
          <p:nvPr/>
        </p:nvSpPr>
        <p:spPr>
          <a:xfrm>
            <a:off x="2398309" y="3768772"/>
            <a:ext cx="2095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950" b="1">
                <a:solidFill>
                  <a:srgbClr val="F3F7FF"/>
                </a:solidFill>
              </a:defRPr>
            </a:pPr>
            <a:r>
              <a:rPr sz="1950" b="1" dirty="0" err="1">
                <a:solidFill>
                  <a:srgbClr val="F3F7FF"/>
                </a:solidFill>
              </a:rPr>
              <a:t>MockKRW</a:t>
            </a:r>
            <a:endParaRPr sz="1950" b="1" dirty="0">
              <a:solidFill>
                <a:srgbClr val="F3F7FF"/>
              </a:solidFill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="" xmlns:a16="http://schemas.microsoft.com/office/drawing/2014/main" id="{FBAA88D0-EC41-4578-B8EB-A24315976288}"/>
              </a:ext>
            </a:extLst>
          </p:cNvPr>
          <p:cNvSpPr>
            <a:spLocks noGrp="1"/>
          </p:cNvSpPr>
          <p:nvPr/>
        </p:nvSpPr>
        <p:spPr>
          <a:xfrm>
            <a:off x="2398309" y="4181522"/>
            <a:ext cx="2095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9FB2D8"/>
                </a:solidFill>
              </a:defRPr>
            </a:pPr>
            <a:r>
              <a:rPr sz="1350" b="0" dirty="0">
                <a:solidFill>
                  <a:srgbClr val="9FB2D8"/>
                </a:solidFill>
              </a:rPr>
              <a:t>6 decimals</a:t>
            </a:r>
          </a:p>
          <a:p>
            <a:pPr algn="l">
              <a:defRPr sz="1350" b="0">
                <a:solidFill>
                  <a:srgbClr val="9FB2D8"/>
                </a:solidFill>
              </a:defRPr>
            </a:pPr>
            <a:r>
              <a:rPr sz="1350" b="0" dirty="0">
                <a:solidFill>
                  <a:srgbClr val="9FB2D8"/>
                </a:solidFill>
              </a:rPr>
              <a:t>public mint()</a:t>
            </a:r>
          </a:p>
        </p:txBody>
      </p:sp>
      <p:sp>
        <p:nvSpPr>
          <p:cNvPr id="9" name="右箭头 8">
            <a:extLst>
              <a:ext uri="{FF2B5EF4-FFF2-40B4-BE49-F238E27FC236}">
                <a16:creationId xmlns="" xmlns:a16="http://schemas.microsoft.com/office/drawing/2014/main" id="{6E2607B5-BD32-4229-92A4-A88C9F99A900}"/>
              </a:ext>
            </a:extLst>
          </p:cNvPr>
          <p:cNvSpPr>
            <a:spLocks noGrp="1"/>
          </p:cNvSpPr>
          <p:nvPr/>
        </p:nvSpPr>
        <p:spPr>
          <a:xfrm>
            <a:off x="5160559" y="2124122"/>
            <a:ext cx="1428750" cy="342900"/>
          </a:xfrm>
          <a:prstGeom prst="rightArrow">
            <a:avLst/>
          </a:prstGeom>
          <a:solidFill>
            <a:srgbClr val="19E3C2"/>
          </a:solidFill>
          <a:ln w="0">
            <a:solidFill>
              <a:srgbClr val="19E3C2"/>
            </a:solidFill>
            <a:prstDash val="solid"/>
          </a:ln>
        </p:spPr>
      </p:sp>
      <p:sp>
        <p:nvSpPr>
          <p:cNvPr id="10" name="右箭头 9">
            <a:extLst>
              <a:ext uri="{FF2B5EF4-FFF2-40B4-BE49-F238E27FC236}">
                <a16:creationId xmlns="" xmlns:a16="http://schemas.microsoft.com/office/drawing/2014/main" id="{0DAFD421-1AD1-4208-840D-BF42449EB3B5}"/>
              </a:ext>
            </a:extLst>
          </p:cNvPr>
          <p:cNvSpPr>
            <a:spLocks noGrp="1"/>
          </p:cNvSpPr>
          <p:nvPr/>
        </p:nvSpPr>
        <p:spPr>
          <a:xfrm>
            <a:off x="5160559" y="3909798"/>
            <a:ext cx="1428750" cy="342900"/>
          </a:xfrm>
          <a:prstGeom prst="rightArrow">
            <a:avLst/>
          </a:prstGeom>
          <a:solidFill>
            <a:srgbClr val="19E3C2"/>
          </a:solidFill>
          <a:ln w="0">
            <a:solidFill>
              <a:srgbClr val="19E3C2"/>
            </a:solidFill>
            <a:prstDash val="solid"/>
          </a:ln>
        </p:spPr>
      </p:sp>
      <p:sp>
        <p:nvSpPr>
          <p:cNvPr id="11" name="圆角矩形 10">
            <a:extLst>
              <a:ext uri="{FF2B5EF4-FFF2-40B4-BE49-F238E27FC236}">
                <a16:creationId xmlns="" xmlns:a16="http://schemas.microsoft.com/office/drawing/2014/main" id="{6E298F63-564E-4469-91BF-52A2A9EDCDF7}"/>
              </a:ext>
            </a:extLst>
          </p:cNvPr>
          <p:cNvSpPr>
            <a:spLocks noGrp="1"/>
          </p:cNvSpPr>
          <p:nvPr/>
        </p:nvSpPr>
        <p:spPr>
          <a:xfrm>
            <a:off x="7120150" y="2320972"/>
            <a:ext cx="2705100" cy="1447800"/>
          </a:xfrm>
          <a:prstGeom prst="roundRect">
            <a:avLst>
              <a:gd name="adj" fmla="val 5263"/>
            </a:avLst>
          </a:prstGeom>
          <a:solidFill>
            <a:srgbClr val="111827"/>
          </a:solidFill>
          <a:ln w="9525">
            <a:solidFill>
              <a:srgbClr val="2B3A5E"/>
            </a:solidFill>
            <a:prstDash val="solid"/>
          </a:ln>
        </p:spPr>
      </p:sp>
      <p:sp>
        <p:nvSpPr>
          <p:cNvPr id="12" name="矩形 11">
            <a:extLst>
              <a:ext uri="{FF2B5EF4-FFF2-40B4-BE49-F238E27FC236}">
                <a16:creationId xmlns="" xmlns:a16="http://schemas.microsoft.com/office/drawing/2014/main" id="{6D65827A-951B-4CE7-95F7-C82237A1C381}"/>
              </a:ext>
            </a:extLst>
          </p:cNvPr>
          <p:cNvSpPr>
            <a:spLocks noGrp="1"/>
          </p:cNvSpPr>
          <p:nvPr/>
        </p:nvSpPr>
        <p:spPr>
          <a:xfrm>
            <a:off x="7482100" y="2444797"/>
            <a:ext cx="21145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250" b="1">
                <a:solidFill>
                  <a:srgbClr val="19E3C2"/>
                </a:solidFill>
              </a:defRPr>
            </a:pPr>
            <a:r>
              <a:rPr sz="2250" b="1" dirty="0" err="1">
                <a:solidFill>
                  <a:srgbClr val="19E3C2"/>
                </a:solidFill>
              </a:rPr>
              <a:t>BatchTransfer</a:t>
            </a:r>
            <a:endParaRPr sz="2250" b="1" dirty="0">
              <a:solidFill>
                <a:srgbClr val="19E3C2"/>
              </a:solidFill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="" xmlns:a16="http://schemas.microsoft.com/office/drawing/2014/main" id="{FA407CAB-AC6C-4B41-9799-300DB7CE1B81}"/>
              </a:ext>
            </a:extLst>
          </p:cNvPr>
          <p:cNvSpPr>
            <a:spLocks noGrp="1"/>
          </p:cNvSpPr>
          <p:nvPr/>
        </p:nvSpPr>
        <p:spPr>
          <a:xfrm>
            <a:off x="7583700" y="2930572"/>
            <a:ext cx="31432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0">
                <a:solidFill>
                  <a:srgbClr val="9FB2D8"/>
                </a:solidFill>
              </a:defRPr>
            </a:pPr>
            <a:r>
              <a:rPr sz="1500" b="0" dirty="0" err="1">
                <a:solidFill>
                  <a:srgbClr val="9FB2D8"/>
                </a:solidFill>
              </a:rPr>
              <a:t>batchTransfer</a:t>
            </a:r>
            <a:r>
              <a:rPr sz="1500" b="0" dirty="0">
                <a:solidFill>
                  <a:srgbClr val="9FB2D8"/>
                </a:solidFill>
              </a:rPr>
              <a:t>()</a:t>
            </a:r>
          </a:p>
          <a:p>
            <a:pPr algn="l">
              <a:defRPr sz="1500" b="0">
                <a:solidFill>
                  <a:srgbClr val="9FB2D8"/>
                </a:solidFill>
              </a:defRPr>
            </a:pPr>
            <a:r>
              <a:rPr sz="1500" b="0" dirty="0" err="1">
                <a:solidFill>
                  <a:srgbClr val="9FB2D8"/>
                </a:solidFill>
              </a:rPr>
              <a:t>splitTransfer</a:t>
            </a:r>
            <a:r>
              <a:rPr sz="1500" b="0" dirty="0">
                <a:solidFill>
                  <a:srgbClr val="9FB2D8"/>
                </a:solidFill>
              </a:rPr>
              <a:t>()</a:t>
            </a:r>
          </a:p>
          <a:p>
            <a:pPr algn="l">
              <a:defRPr sz="1500" b="0">
                <a:solidFill>
                  <a:srgbClr val="9FB2D8"/>
                </a:solidFill>
              </a:defRPr>
            </a:pPr>
            <a:r>
              <a:rPr sz="1500" b="0" dirty="0">
                <a:solidFill>
                  <a:srgbClr val="9FB2D8"/>
                </a:solidFill>
              </a:rPr>
              <a:t>max 500 recipients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="" xmlns:a16="http://schemas.microsoft.com/office/drawing/2014/main" id="{56685EB4-53F6-48A6-87F4-63C507529878}"/>
              </a:ext>
            </a:extLst>
          </p:cNvPr>
          <p:cNvSpPr>
            <a:spLocks noGrp="1"/>
          </p:cNvSpPr>
          <p:nvPr/>
        </p:nvSpPr>
        <p:spPr>
          <a:xfrm>
            <a:off x="609600" y="6381750"/>
            <a:ext cx="2476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0">
                <a:solidFill>
                  <a:srgbClr val="9FB2D8"/>
                </a:solidFill>
              </a:defRPr>
            </a:pPr>
            <a:r>
              <a:rPr sz="900" b="0" dirty="0" err="1">
                <a:solidFill>
                  <a:srgbClr val="9FB2D8"/>
                </a:solidFill>
              </a:rPr>
              <a:t>DivvyPay</a:t>
            </a:r>
            <a:r>
              <a:rPr sz="900" b="0" dirty="0">
                <a:solidFill>
                  <a:srgbClr val="9FB2D8"/>
                </a:solidFill>
              </a:rPr>
              <a:t> / GASOK Demo / </a:t>
            </a:r>
            <a:r>
              <a:rPr lang="en-US" sz="900" b="0" dirty="0" smtClean="0">
                <a:solidFill>
                  <a:srgbClr val="9FB2D8"/>
                </a:solidFill>
              </a:rPr>
              <a:t>7</a:t>
            </a:r>
            <a:endParaRPr sz="900" b="0" dirty="0">
              <a:solidFill>
                <a:srgbClr val="9FB2D8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2427370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矩形 18">
            <a:extLst>
              <a:ext uri="{FF2B5EF4-FFF2-40B4-BE49-F238E27FC236}">
                <a16:creationId xmlns="" xmlns:a16="http://schemas.microsoft.com/office/drawing/2014/main" id="{59A1C723-B49D-4B36-A7B4-3AB762078E38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3429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>
                <a:solidFill>
                  <a:srgbClr val="19E3C2"/>
                </a:solidFill>
              </a:defRPr>
            </a:pPr>
            <a:r>
              <a:rPr sz="975" b="1">
                <a:solidFill>
                  <a:srgbClr val="19E3C2"/>
                </a:solidFill>
              </a:rPr>
              <a:t>DIVVYPAY</a:t>
            </a:r>
          </a:p>
        </p:txBody>
      </p:sp>
      <p:sp>
        <p:nvSpPr>
          <p:cNvPr id="2" name="矩形 1">
            <a:extLst>
              <a:ext uri="{FF2B5EF4-FFF2-40B4-BE49-F238E27FC236}">
                <a16:creationId xmlns="" xmlns:a16="http://schemas.microsoft.com/office/drawing/2014/main" id="{B1A1999D-F907-4555-AB49-B24F98CBD97A}"/>
              </a:ext>
            </a:extLst>
          </p:cNvPr>
          <p:cNvSpPr>
            <a:spLocks noGrp="1"/>
          </p:cNvSpPr>
          <p:nvPr/>
        </p:nvSpPr>
        <p:spPr>
          <a:xfrm>
            <a:off x="609600" y="685800"/>
            <a:ext cx="80010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850" b="1">
                <a:solidFill>
                  <a:srgbClr val="F3F7FF"/>
                </a:solidFill>
              </a:defRPr>
            </a:pPr>
            <a:r>
              <a:rPr sz="2850" b="1">
                <a:solidFill>
                  <a:srgbClr val="F3F7FF"/>
                </a:solidFill>
              </a:rPr>
              <a:t>DivvyPay can grow into a GIWA payment workspace</a:t>
            </a:r>
          </a:p>
        </p:txBody>
      </p:sp>
      <p:sp>
        <p:nvSpPr>
          <p:cNvPr id="3" name="圆角矩形 2">
            <a:extLst>
              <a:ext uri="{FF2B5EF4-FFF2-40B4-BE49-F238E27FC236}">
                <a16:creationId xmlns="" xmlns:a16="http://schemas.microsoft.com/office/drawing/2014/main" id="{93630CD2-49C9-4D15-8967-BBAC4F5B4BC3}"/>
              </a:ext>
            </a:extLst>
          </p:cNvPr>
          <p:cNvSpPr>
            <a:spLocks noGrp="1"/>
          </p:cNvSpPr>
          <p:nvPr/>
        </p:nvSpPr>
        <p:spPr>
          <a:xfrm>
            <a:off x="904875" y="2190750"/>
            <a:ext cx="1714500" cy="819150"/>
          </a:xfrm>
          <a:prstGeom prst="roundRect">
            <a:avLst>
              <a:gd name="adj" fmla="val 9302"/>
            </a:avLst>
          </a:prstGeom>
          <a:solidFill>
            <a:srgbClr val="17213A"/>
          </a:solidFill>
          <a:ln w="9525">
            <a:solidFill>
              <a:srgbClr val="2B3A5E"/>
            </a:solidFill>
            <a:prstDash val="solid"/>
          </a:ln>
        </p:spPr>
      </p:sp>
      <p:sp>
        <p:nvSpPr>
          <p:cNvPr id="4" name="矩形 3">
            <a:extLst>
              <a:ext uri="{FF2B5EF4-FFF2-40B4-BE49-F238E27FC236}">
                <a16:creationId xmlns="" xmlns:a16="http://schemas.microsoft.com/office/drawing/2014/main" id="{F8C7E06C-7A07-4D44-8CAD-99CFAFE252B3}"/>
              </a:ext>
            </a:extLst>
          </p:cNvPr>
          <p:cNvSpPr>
            <a:spLocks noGrp="1"/>
          </p:cNvSpPr>
          <p:nvPr/>
        </p:nvSpPr>
        <p:spPr>
          <a:xfrm>
            <a:off x="1076325" y="2419350"/>
            <a:ext cx="13716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500" b="1">
                <a:solidFill>
                  <a:srgbClr val="F3F7FF"/>
                </a:solidFill>
              </a:defRPr>
            </a:pPr>
            <a:r>
              <a:rPr sz="1500" b="1">
                <a:solidFill>
                  <a:srgbClr val="F3F7FF"/>
                </a:solidFill>
              </a:rPr>
              <a:t>Payment</a:t>
            </a:r>
          </a:p>
          <a:p>
            <a:pPr algn="ctr">
              <a:defRPr sz="1500" b="1">
                <a:solidFill>
                  <a:srgbClr val="F3F7FF"/>
                </a:solidFill>
              </a:defRPr>
            </a:pPr>
            <a:r>
              <a:rPr sz="1500" b="1">
                <a:solidFill>
                  <a:srgbClr val="F3F7FF"/>
                </a:solidFill>
              </a:rPr>
              <a:t>requests</a:t>
            </a:r>
          </a:p>
        </p:txBody>
      </p:sp>
      <p:sp>
        <p:nvSpPr>
          <p:cNvPr id="5" name="右箭头 4">
            <a:extLst>
              <a:ext uri="{FF2B5EF4-FFF2-40B4-BE49-F238E27FC236}">
                <a16:creationId xmlns="" xmlns:a16="http://schemas.microsoft.com/office/drawing/2014/main" id="{C548B1C3-CFCE-46CB-A76F-7F361A998012}"/>
              </a:ext>
            </a:extLst>
          </p:cNvPr>
          <p:cNvSpPr>
            <a:spLocks noGrp="1"/>
          </p:cNvSpPr>
          <p:nvPr/>
        </p:nvSpPr>
        <p:spPr>
          <a:xfrm>
            <a:off x="2657475" y="2476500"/>
            <a:ext cx="190500" cy="228600"/>
          </a:xfrm>
          <a:prstGeom prst="rightArrow">
            <a:avLst/>
          </a:prstGeom>
          <a:solidFill>
            <a:srgbClr val="19E3C2"/>
          </a:solidFill>
          <a:ln w="0">
            <a:solidFill>
              <a:srgbClr val="19E3C2"/>
            </a:solidFill>
            <a:prstDash val="solid"/>
          </a:ln>
        </p:spPr>
      </p:sp>
      <p:sp>
        <p:nvSpPr>
          <p:cNvPr id="6" name="圆角矩形 5">
            <a:extLst>
              <a:ext uri="{FF2B5EF4-FFF2-40B4-BE49-F238E27FC236}">
                <a16:creationId xmlns="" xmlns:a16="http://schemas.microsoft.com/office/drawing/2014/main" id="{7705DBA2-6D91-46B0-9ADB-DB4AAE662FA6}"/>
              </a:ext>
            </a:extLst>
          </p:cNvPr>
          <p:cNvSpPr>
            <a:spLocks noGrp="1"/>
          </p:cNvSpPr>
          <p:nvPr/>
        </p:nvSpPr>
        <p:spPr>
          <a:xfrm>
            <a:off x="2886075" y="2190750"/>
            <a:ext cx="1714500" cy="819150"/>
          </a:xfrm>
          <a:prstGeom prst="roundRect">
            <a:avLst>
              <a:gd name="adj" fmla="val 9302"/>
            </a:avLst>
          </a:prstGeom>
          <a:solidFill>
            <a:srgbClr val="17213A"/>
          </a:solidFill>
          <a:ln w="9525">
            <a:solidFill>
              <a:srgbClr val="2B3A5E"/>
            </a:solidFill>
            <a:prstDash val="solid"/>
          </a:ln>
        </p:spPr>
      </p:sp>
      <p:sp>
        <p:nvSpPr>
          <p:cNvPr id="7" name="矩形 6">
            <a:extLst>
              <a:ext uri="{FF2B5EF4-FFF2-40B4-BE49-F238E27FC236}">
                <a16:creationId xmlns="" xmlns:a16="http://schemas.microsoft.com/office/drawing/2014/main" id="{3E05DF14-47FC-4939-8E62-3E59D0178604}"/>
              </a:ext>
            </a:extLst>
          </p:cNvPr>
          <p:cNvSpPr>
            <a:spLocks noGrp="1"/>
          </p:cNvSpPr>
          <p:nvPr/>
        </p:nvSpPr>
        <p:spPr>
          <a:xfrm>
            <a:off x="3057525" y="2419350"/>
            <a:ext cx="13716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500" b="1">
                <a:solidFill>
                  <a:srgbClr val="F3F7FF"/>
                </a:solidFill>
              </a:defRPr>
            </a:pPr>
            <a:r>
              <a:rPr sz="1500" b="1">
                <a:solidFill>
                  <a:srgbClr val="F3F7FF"/>
                </a:solidFill>
              </a:rPr>
              <a:t>ETH + token</a:t>
            </a:r>
          </a:p>
          <a:p>
            <a:pPr algn="ctr">
              <a:defRPr sz="1500" b="1">
                <a:solidFill>
                  <a:srgbClr val="F3F7FF"/>
                </a:solidFill>
              </a:defRPr>
            </a:pPr>
            <a:r>
              <a:rPr sz="1500" b="1">
                <a:solidFill>
                  <a:srgbClr val="F3F7FF"/>
                </a:solidFill>
              </a:rPr>
              <a:t>swaps</a:t>
            </a:r>
          </a:p>
        </p:txBody>
      </p:sp>
      <p:sp>
        <p:nvSpPr>
          <p:cNvPr id="8" name="右箭头 7">
            <a:extLst>
              <a:ext uri="{FF2B5EF4-FFF2-40B4-BE49-F238E27FC236}">
                <a16:creationId xmlns="" xmlns:a16="http://schemas.microsoft.com/office/drawing/2014/main" id="{DD6D3003-44FB-407D-B83D-877B26FC04E2}"/>
              </a:ext>
            </a:extLst>
          </p:cNvPr>
          <p:cNvSpPr>
            <a:spLocks noGrp="1"/>
          </p:cNvSpPr>
          <p:nvPr/>
        </p:nvSpPr>
        <p:spPr>
          <a:xfrm>
            <a:off x="4638675" y="2476500"/>
            <a:ext cx="190500" cy="228600"/>
          </a:xfrm>
          <a:prstGeom prst="rightArrow">
            <a:avLst/>
          </a:prstGeom>
          <a:solidFill>
            <a:srgbClr val="19E3C2"/>
          </a:solidFill>
          <a:ln w="0">
            <a:solidFill>
              <a:srgbClr val="19E3C2"/>
            </a:solidFill>
            <a:prstDash val="solid"/>
          </a:ln>
        </p:spPr>
      </p:sp>
      <p:sp>
        <p:nvSpPr>
          <p:cNvPr id="9" name="圆角矩形 8">
            <a:extLst>
              <a:ext uri="{FF2B5EF4-FFF2-40B4-BE49-F238E27FC236}">
                <a16:creationId xmlns="" xmlns:a16="http://schemas.microsoft.com/office/drawing/2014/main" id="{8502255C-97D4-4519-97F0-D7EA927850DE}"/>
              </a:ext>
            </a:extLst>
          </p:cNvPr>
          <p:cNvSpPr>
            <a:spLocks noGrp="1"/>
          </p:cNvSpPr>
          <p:nvPr/>
        </p:nvSpPr>
        <p:spPr>
          <a:xfrm>
            <a:off x="4867275" y="2190750"/>
            <a:ext cx="1714500" cy="819150"/>
          </a:xfrm>
          <a:prstGeom prst="roundRect">
            <a:avLst>
              <a:gd name="adj" fmla="val 9302"/>
            </a:avLst>
          </a:prstGeom>
          <a:solidFill>
            <a:srgbClr val="17213A"/>
          </a:solidFill>
          <a:ln w="9525">
            <a:solidFill>
              <a:srgbClr val="2B3A5E"/>
            </a:solidFill>
            <a:prstDash val="solid"/>
          </a:ln>
        </p:spPr>
      </p:sp>
      <p:sp>
        <p:nvSpPr>
          <p:cNvPr id="10" name="矩形 9">
            <a:extLst>
              <a:ext uri="{FF2B5EF4-FFF2-40B4-BE49-F238E27FC236}">
                <a16:creationId xmlns="" xmlns:a16="http://schemas.microsoft.com/office/drawing/2014/main" id="{4F2CE107-A1A3-4278-840F-638BF97FC1FE}"/>
              </a:ext>
            </a:extLst>
          </p:cNvPr>
          <p:cNvSpPr>
            <a:spLocks noGrp="1"/>
          </p:cNvSpPr>
          <p:nvPr/>
        </p:nvSpPr>
        <p:spPr>
          <a:xfrm>
            <a:off x="5038725" y="2419350"/>
            <a:ext cx="13716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500" b="1">
                <a:solidFill>
                  <a:srgbClr val="F3F7FF"/>
                </a:solidFill>
              </a:defRPr>
            </a:pPr>
            <a:r>
              <a:rPr sz="1500" b="1">
                <a:solidFill>
                  <a:srgbClr val="F3F7FF"/>
                </a:solidFill>
              </a:rPr>
              <a:t>Recurring</a:t>
            </a:r>
          </a:p>
          <a:p>
            <a:pPr algn="ctr">
              <a:defRPr sz="1500" b="1">
                <a:solidFill>
                  <a:srgbClr val="F3F7FF"/>
                </a:solidFill>
              </a:defRPr>
            </a:pPr>
            <a:r>
              <a:rPr sz="1500" b="1">
                <a:solidFill>
                  <a:srgbClr val="F3F7FF"/>
                </a:solidFill>
              </a:rPr>
              <a:t>payouts</a:t>
            </a:r>
          </a:p>
        </p:txBody>
      </p:sp>
      <p:sp>
        <p:nvSpPr>
          <p:cNvPr id="11" name="右箭头 10">
            <a:extLst>
              <a:ext uri="{FF2B5EF4-FFF2-40B4-BE49-F238E27FC236}">
                <a16:creationId xmlns="" xmlns:a16="http://schemas.microsoft.com/office/drawing/2014/main" id="{F8AC3AAF-0324-451C-A1EE-4B4A9D12D705}"/>
              </a:ext>
            </a:extLst>
          </p:cNvPr>
          <p:cNvSpPr>
            <a:spLocks noGrp="1"/>
          </p:cNvSpPr>
          <p:nvPr/>
        </p:nvSpPr>
        <p:spPr>
          <a:xfrm>
            <a:off x="6619875" y="2476500"/>
            <a:ext cx="190500" cy="228600"/>
          </a:xfrm>
          <a:prstGeom prst="rightArrow">
            <a:avLst/>
          </a:prstGeom>
          <a:solidFill>
            <a:srgbClr val="19E3C2"/>
          </a:solidFill>
          <a:ln w="0">
            <a:solidFill>
              <a:srgbClr val="19E3C2"/>
            </a:solidFill>
            <a:prstDash val="solid"/>
          </a:ln>
        </p:spPr>
      </p:sp>
      <p:sp>
        <p:nvSpPr>
          <p:cNvPr id="12" name="圆角矩形 11">
            <a:extLst>
              <a:ext uri="{FF2B5EF4-FFF2-40B4-BE49-F238E27FC236}">
                <a16:creationId xmlns="" xmlns:a16="http://schemas.microsoft.com/office/drawing/2014/main" id="{EA850F7A-C5A3-421D-8E22-9BFE62476203}"/>
              </a:ext>
            </a:extLst>
          </p:cNvPr>
          <p:cNvSpPr>
            <a:spLocks noGrp="1"/>
          </p:cNvSpPr>
          <p:nvPr/>
        </p:nvSpPr>
        <p:spPr>
          <a:xfrm>
            <a:off x="6848475" y="2190750"/>
            <a:ext cx="1714500" cy="819150"/>
          </a:xfrm>
          <a:prstGeom prst="roundRect">
            <a:avLst>
              <a:gd name="adj" fmla="val 9302"/>
            </a:avLst>
          </a:prstGeom>
          <a:solidFill>
            <a:srgbClr val="17213A"/>
          </a:solidFill>
          <a:ln w="9525">
            <a:solidFill>
              <a:srgbClr val="2B3A5E"/>
            </a:solidFill>
            <a:prstDash val="solid"/>
          </a:ln>
        </p:spPr>
      </p:sp>
      <p:sp>
        <p:nvSpPr>
          <p:cNvPr id="13" name="矩形 12">
            <a:extLst>
              <a:ext uri="{FF2B5EF4-FFF2-40B4-BE49-F238E27FC236}">
                <a16:creationId xmlns="" xmlns:a16="http://schemas.microsoft.com/office/drawing/2014/main" id="{63194679-C7C9-4298-A83E-DFECF25C6326}"/>
              </a:ext>
            </a:extLst>
          </p:cNvPr>
          <p:cNvSpPr>
            <a:spLocks noGrp="1"/>
          </p:cNvSpPr>
          <p:nvPr/>
        </p:nvSpPr>
        <p:spPr>
          <a:xfrm>
            <a:off x="7019925" y="2419350"/>
            <a:ext cx="13716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500" b="1">
                <a:solidFill>
                  <a:srgbClr val="F3F7FF"/>
                </a:solidFill>
              </a:defRPr>
            </a:pPr>
            <a:r>
              <a:rPr sz="1500" b="1">
                <a:solidFill>
                  <a:srgbClr val="F3F7FF"/>
                </a:solidFill>
              </a:rPr>
              <a:t>Recipient</a:t>
            </a:r>
          </a:p>
          <a:p>
            <a:pPr algn="ctr">
              <a:defRPr sz="1500" b="1">
                <a:solidFill>
                  <a:srgbClr val="F3F7FF"/>
                </a:solidFill>
              </a:defRPr>
            </a:pPr>
            <a:r>
              <a:rPr sz="1500" b="1">
                <a:solidFill>
                  <a:srgbClr val="F3F7FF"/>
                </a:solidFill>
              </a:rPr>
              <a:t>templates</a:t>
            </a:r>
          </a:p>
        </p:txBody>
      </p:sp>
      <p:sp>
        <p:nvSpPr>
          <p:cNvPr id="14" name="右箭头 13">
            <a:extLst>
              <a:ext uri="{FF2B5EF4-FFF2-40B4-BE49-F238E27FC236}">
                <a16:creationId xmlns="" xmlns:a16="http://schemas.microsoft.com/office/drawing/2014/main" id="{104C65AC-C41B-4C16-BD28-B9B2F8D475E1}"/>
              </a:ext>
            </a:extLst>
          </p:cNvPr>
          <p:cNvSpPr>
            <a:spLocks noGrp="1"/>
          </p:cNvSpPr>
          <p:nvPr/>
        </p:nvSpPr>
        <p:spPr>
          <a:xfrm>
            <a:off x="8601075" y="2476500"/>
            <a:ext cx="190500" cy="228600"/>
          </a:xfrm>
          <a:prstGeom prst="rightArrow">
            <a:avLst/>
          </a:prstGeom>
          <a:solidFill>
            <a:srgbClr val="19E3C2"/>
          </a:solidFill>
          <a:ln w="0">
            <a:solidFill>
              <a:srgbClr val="19E3C2"/>
            </a:solidFill>
            <a:prstDash val="solid"/>
          </a:ln>
        </p:spPr>
      </p:sp>
      <p:sp>
        <p:nvSpPr>
          <p:cNvPr id="15" name="圆角矩形 14">
            <a:extLst>
              <a:ext uri="{FF2B5EF4-FFF2-40B4-BE49-F238E27FC236}">
                <a16:creationId xmlns="" xmlns:a16="http://schemas.microsoft.com/office/drawing/2014/main" id="{7498867C-5591-4641-934A-6B1BEC925F23}"/>
              </a:ext>
            </a:extLst>
          </p:cNvPr>
          <p:cNvSpPr>
            <a:spLocks noGrp="1"/>
          </p:cNvSpPr>
          <p:nvPr/>
        </p:nvSpPr>
        <p:spPr>
          <a:xfrm>
            <a:off x="8829675" y="2190750"/>
            <a:ext cx="1714500" cy="819150"/>
          </a:xfrm>
          <a:prstGeom prst="roundRect">
            <a:avLst>
              <a:gd name="adj" fmla="val 9302"/>
            </a:avLst>
          </a:prstGeom>
          <a:solidFill>
            <a:srgbClr val="17213A"/>
          </a:solidFill>
          <a:ln w="9525">
            <a:solidFill>
              <a:srgbClr val="2B3A5E"/>
            </a:solidFill>
            <a:prstDash val="solid"/>
          </a:ln>
        </p:spPr>
      </p:sp>
      <p:sp>
        <p:nvSpPr>
          <p:cNvPr id="16" name="矩形 15">
            <a:extLst>
              <a:ext uri="{FF2B5EF4-FFF2-40B4-BE49-F238E27FC236}">
                <a16:creationId xmlns="" xmlns:a16="http://schemas.microsoft.com/office/drawing/2014/main" id="{BC9EB13C-43D5-446F-939B-5FA98CE26C6D}"/>
              </a:ext>
            </a:extLst>
          </p:cNvPr>
          <p:cNvSpPr>
            <a:spLocks noGrp="1"/>
          </p:cNvSpPr>
          <p:nvPr/>
        </p:nvSpPr>
        <p:spPr>
          <a:xfrm>
            <a:off x="9001125" y="2419350"/>
            <a:ext cx="13716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500" b="1">
                <a:solidFill>
                  <a:srgbClr val="F3F7FF"/>
                </a:solidFill>
              </a:defRPr>
            </a:pPr>
            <a:r>
              <a:rPr sz="1500" b="1" dirty="0">
                <a:solidFill>
                  <a:srgbClr val="F3F7FF"/>
                </a:solidFill>
              </a:rPr>
              <a:t>GIWA Wallet</a:t>
            </a:r>
          </a:p>
          <a:p>
            <a:pPr algn="ctr">
              <a:defRPr sz="1500" b="1">
                <a:solidFill>
                  <a:srgbClr val="F3F7FF"/>
                </a:solidFill>
              </a:defRPr>
            </a:pPr>
            <a:r>
              <a:rPr sz="1500" b="1" dirty="0">
                <a:solidFill>
                  <a:srgbClr val="F3F7FF"/>
                </a:solidFill>
              </a:rPr>
              <a:t>module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="" xmlns:a16="http://schemas.microsoft.com/office/drawing/2014/main" id="{71A05107-F63A-46C1-B23A-0F0A984A9B99}"/>
              </a:ext>
            </a:extLst>
          </p:cNvPr>
          <p:cNvSpPr>
            <a:spLocks noGrp="1"/>
          </p:cNvSpPr>
          <p:nvPr/>
        </p:nvSpPr>
        <p:spPr>
          <a:xfrm>
            <a:off x="1485900" y="4143375"/>
            <a:ext cx="923925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875" b="0">
                <a:solidFill>
                  <a:srgbClr val="9FB2D8"/>
                </a:solidFill>
              </a:defRPr>
            </a:pPr>
            <a:r>
              <a:rPr sz="1875" b="0">
                <a:solidFill>
                  <a:srgbClr val="9FB2D8"/>
                </a:solidFill>
              </a:rPr>
              <a:t>The MVP starts with payout execution. Future modules can turn DivvyPay into a wallet-native payment workspace for teams and contributors.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="" xmlns:a16="http://schemas.microsoft.com/office/drawing/2014/main" id="{59CB9E2D-0D47-40D1-9AA1-0E670081C0A4}"/>
              </a:ext>
            </a:extLst>
          </p:cNvPr>
          <p:cNvSpPr>
            <a:spLocks noGrp="1"/>
          </p:cNvSpPr>
          <p:nvPr/>
        </p:nvSpPr>
        <p:spPr>
          <a:xfrm>
            <a:off x="609600" y="6381750"/>
            <a:ext cx="2476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0">
                <a:solidFill>
                  <a:srgbClr val="9FB2D8"/>
                </a:solidFill>
              </a:defRPr>
            </a:pPr>
            <a:r>
              <a:rPr sz="900" b="0">
                <a:solidFill>
                  <a:srgbClr val="9FB2D8"/>
                </a:solidFill>
              </a:rPr>
              <a:t>DivvyPay / GASOK Demo / 8</a:t>
            </a:r>
          </a:p>
        </p:txBody>
      </p:sp>
    </p:spTree>
    <p:extLst>
      <p:ext uri="{BB962C8B-B14F-4D97-AF65-F5344CB8AC3E}">
        <p14:creationId xmlns:p14="http://schemas.microsoft.com/office/powerpoint/2010/main" val="48212498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矩形 16">
            <a:extLst>
              <a:ext uri="{FF2B5EF4-FFF2-40B4-BE49-F238E27FC236}">
                <a16:creationId xmlns="" xmlns:a16="http://schemas.microsoft.com/office/drawing/2014/main" id="{7D763A92-E253-4830-9847-B1305951FAB7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3429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>
                <a:solidFill>
                  <a:srgbClr val="19E3C2"/>
                </a:solidFill>
              </a:defRPr>
            </a:pPr>
            <a:r>
              <a:rPr sz="975" b="1">
                <a:solidFill>
                  <a:srgbClr val="19E3C2"/>
                </a:solidFill>
              </a:rPr>
              <a:t>DIVVYPAY</a:t>
            </a:r>
          </a:p>
        </p:txBody>
      </p:sp>
      <p:sp>
        <p:nvSpPr>
          <p:cNvPr id="2" name="矩形 1">
            <a:extLst>
              <a:ext uri="{FF2B5EF4-FFF2-40B4-BE49-F238E27FC236}">
                <a16:creationId xmlns="" xmlns:a16="http://schemas.microsoft.com/office/drawing/2014/main" id="{745CCC31-2827-4215-B2D7-D4DAEEAFD441}"/>
              </a:ext>
            </a:extLst>
          </p:cNvPr>
          <p:cNvSpPr>
            <a:spLocks noGrp="1"/>
          </p:cNvSpPr>
          <p:nvPr/>
        </p:nvSpPr>
        <p:spPr>
          <a:xfrm>
            <a:off x="609600" y="685800"/>
            <a:ext cx="80010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850" b="1">
                <a:solidFill>
                  <a:srgbClr val="F3F7FF"/>
                </a:solidFill>
              </a:defRPr>
            </a:pPr>
            <a:r>
              <a:rPr sz="2850" b="1">
                <a:solidFill>
                  <a:srgbClr val="F3F7FF"/>
                </a:solidFill>
              </a:rPr>
              <a:t>Links and deployed contracts</a:t>
            </a:r>
          </a:p>
        </p:txBody>
      </p:sp>
      <p:sp>
        <p:nvSpPr>
          <p:cNvPr id="3" name="矩形 2">
            <a:extLst>
              <a:ext uri="{FF2B5EF4-FFF2-40B4-BE49-F238E27FC236}">
                <a16:creationId xmlns="" xmlns:a16="http://schemas.microsoft.com/office/drawing/2014/main" id="{EDB2461E-FEFE-41F9-97CE-4681833BAF93}"/>
              </a:ext>
            </a:extLst>
          </p:cNvPr>
          <p:cNvSpPr>
            <a:spLocks noGrp="1"/>
          </p:cNvSpPr>
          <p:nvPr/>
        </p:nvSpPr>
        <p:spPr>
          <a:xfrm>
            <a:off x="857250" y="1714500"/>
            <a:ext cx="1524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19E3C2"/>
                </a:solidFill>
              </a:defRPr>
            </a:pPr>
            <a:r>
              <a:rPr sz="1650" b="1">
                <a:solidFill>
                  <a:srgbClr val="19E3C2"/>
                </a:solidFill>
              </a:rPr>
              <a:t>Demo</a:t>
            </a:r>
          </a:p>
        </p:txBody>
      </p:sp>
      <p:sp>
        <p:nvSpPr>
          <p:cNvPr id="4" name="矩形 3">
            <a:extLst>
              <a:ext uri="{FF2B5EF4-FFF2-40B4-BE49-F238E27FC236}">
                <a16:creationId xmlns="" xmlns:a16="http://schemas.microsoft.com/office/drawing/2014/main" id="{B64729F8-4A54-44C7-92E1-18035C2801A3}"/>
              </a:ext>
            </a:extLst>
          </p:cNvPr>
          <p:cNvSpPr>
            <a:spLocks noGrp="1"/>
          </p:cNvSpPr>
          <p:nvPr/>
        </p:nvSpPr>
        <p:spPr>
          <a:xfrm>
            <a:off x="2476500" y="1714500"/>
            <a:ext cx="7810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0">
                <a:solidFill>
                  <a:srgbClr val="F3F7FF"/>
                </a:solidFill>
              </a:defRPr>
            </a:pPr>
            <a:r>
              <a:rPr sz="1650" b="0" dirty="0" smtClean="0">
                <a:solidFill>
                  <a:srgbClr val="F3F7FF"/>
                </a:solidFill>
              </a:rPr>
              <a:t>https://effortless-sorbet-3812f8.netlify.app/</a:t>
            </a:r>
            <a:endParaRPr sz="1650" b="0" dirty="0">
              <a:solidFill>
                <a:srgbClr val="F3F7FF"/>
              </a:solidFill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="" xmlns:a16="http://schemas.microsoft.com/office/drawing/2014/main" id="{C8231DA7-CEC7-4B9C-B865-9BCA002AF036}"/>
              </a:ext>
            </a:extLst>
          </p:cNvPr>
          <p:cNvSpPr>
            <a:spLocks noGrp="1"/>
          </p:cNvSpPr>
          <p:nvPr/>
        </p:nvSpPr>
        <p:spPr>
          <a:xfrm>
            <a:off x="857250" y="2238375"/>
            <a:ext cx="1524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19E3C2"/>
                </a:solidFill>
              </a:defRPr>
            </a:pPr>
            <a:r>
              <a:rPr sz="1650" b="1">
                <a:solidFill>
                  <a:srgbClr val="19E3C2"/>
                </a:solidFill>
              </a:rPr>
              <a:t>GitHub</a:t>
            </a:r>
          </a:p>
        </p:txBody>
      </p:sp>
      <p:sp>
        <p:nvSpPr>
          <p:cNvPr id="6" name="矩形 5">
            <a:extLst>
              <a:ext uri="{FF2B5EF4-FFF2-40B4-BE49-F238E27FC236}">
                <a16:creationId xmlns="" xmlns:a16="http://schemas.microsoft.com/office/drawing/2014/main" id="{C03C776D-5E32-46A6-8B90-403BED3D4BDC}"/>
              </a:ext>
            </a:extLst>
          </p:cNvPr>
          <p:cNvSpPr>
            <a:spLocks noGrp="1"/>
          </p:cNvSpPr>
          <p:nvPr/>
        </p:nvSpPr>
        <p:spPr>
          <a:xfrm>
            <a:off x="2476500" y="2238375"/>
            <a:ext cx="7810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0">
                <a:solidFill>
                  <a:srgbClr val="F3F7FF"/>
                </a:solidFill>
              </a:defRPr>
            </a:pPr>
            <a:r>
              <a:rPr sz="1650" b="0" dirty="0">
                <a:solidFill>
                  <a:srgbClr val="F3F7FF"/>
                </a:solidFill>
              </a:rPr>
              <a:t>https://github.com/dinhtien-crypto/DivvyPay</a:t>
            </a:r>
          </a:p>
        </p:txBody>
      </p:sp>
      <p:sp>
        <p:nvSpPr>
          <p:cNvPr id="7" name="圆角矩形 6">
            <a:extLst>
              <a:ext uri="{FF2B5EF4-FFF2-40B4-BE49-F238E27FC236}">
                <a16:creationId xmlns="" xmlns:a16="http://schemas.microsoft.com/office/drawing/2014/main" id="{5285F9BF-4445-458A-AE1F-34859F796898}"/>
              </a:ext>
            </a:extLst>
          </p:cNvPr>
          <p:cNvSpPr>
            <a:spLocks noGrp="1"/>
          </p:cNvSpPr>
          <p:nvPr/>
        </p:nvSpPr>
        <p:spPr>
          <a:xfrm>
            <a:off x="857250" y="3143250"/>
            <a:ext cx="10287000" cy="495300"/>
          </a:xfrm>
          <a:prstGeom prst="roundRect">
            <a:avLst>
              <a:gd name="adj" fmla="val 15385"/>
            </a:avLst>
          </a:prstGeom>
          <a:solidFill>
            <a:srgbClr val="111827"/>
          </a:solidFill>
          <a:ln w="9525">
            <a:solidFill>
              <a:srgbClr val="2B3A5E"/>
            </a:solidFill>
            <a:prstDash val="solid"/>
          </a:ln>
        </p:spPr>
      </p:sp>
      <p:sp>
        <p:nvSpPr>
          <p:cNvPr id="8" name="矩形 7">
            <a:extLst>
              <a:ext uri="{FF2B5EF4-FFF2-40B4-BE49-F238E27FC236}">
                <a16:creationId xmlns="" xmlns:a16="http://schemas.microsoft.com/office/drawing/2014/main" id="{CBA4541A-73F9-4C51-8CC4-F3383BA55A46}"/>
              </a:ext>
            </a:extLst>
          </p:cNvPr>
          <p:cNvSpPr>
            <a:spLocks noGrp="1"/>
          </p:cNvSpPr>
          <p:nvPr/>
        </p:nvSpPr>
        <p:spPr>
          <a:xfrm>
            <a:off x="1143000" y="3267075"/>
            <a:ext cx="1714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19E3C2"/>
                </a:solidFill>
              </a:defRPr>
            </a:pPr>
            <a:r>
              <a:rPr sz="1500" b="1">
                <a:solidFill>
                  <a:srgbClr val="19E3C2"/>
                </a:solidFill>
              </a:rPr>
              <a:t>MockUSDC</a:t>
            </a:r>
          </a:p>
        </p:txBody>
      </p:sp>
      <p:sp>
        <p:nvSpPr>
          <p:cNvPr id="9" name="矩形 8">
            <a:extLst>
              <a:ext uri="{FF2B5EF4-FFF2-40B4-BE49-F238E27FC236}">
                <a16:creationId xmlns="" xmlns:a16="http://schemas.microsoft.com/office/drawing/2014/main" id="{DC9134A8-DF0E-422A-A76B-36B625A2289E}"/>
              </a:ext>
            </a:extLst>
          </p:cNvPr>
          <p:cNvSpPr>
            <a:spLocks noGrp="1"/>
          </p:cNvSpPr>
          <p:nvPr/>
        </p:nvSpPr>
        <p:spPr>
          <a:xfrm>
            <a:off x="2952750" y="3276600"/>
            <a:ext cx="7524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F3F7FF"/>
                </a:solidFill>
              </a:defRPr>
            </a:pPr>
            <a:r>
              <a:rPr sz="1350" b="0">
                <a:solidFill>
                  <a:srgbClr val="F3F7FF"/>
                </a:solidFill>
              </a:rPr>
              <a:t>0x69D13EaeA37866e196D1d1B9185e7e534f5fc2cC</a:t>
            </a:r>
          </a:p>
        </p:txBody>
      </p:sp>
      <p:sp>
        <p:nvSpPr>
          <p:cNvPr id="10" name="圆角矩形 9">
            <a:extLst>
              <a:ext uri="{FF2B5EF4-FFF2-40B4-BE49-F238E27FC236}">
                <a16:creationId xmlns="" xmlns:a16="http://schemas.microsoft.com/office/drawing/2014/main" id="{E0B811FD-573F-42FF-81F8-364AC9D41584}"/>
              </a:ext>
            </a:extLst>
          </p:cNvPr>
          <p:cNvSpPr>
            <a:spLocks noGrp="1"/>
          </p:cNvSpPr>
          <p:nvPr/>
        </p:nvSpPr>
        <p:spPr>
          <a:xfrm>
            <a:off x="857250" y="3829050"/>
            <a:ext cx="10287000" cy="495300"/>
          </a:xfrm>
          <a:prstGeom prst="roundRect">
            <a:avLst>
              <a:gd name="adj" fmla="val 15385"/>
            </a:avLst>
          </a:prstGeom>
          <a:solidFill>
            <a:srgbClr val="111827"/>
          </a:solidFill>
          <a:ln w="9525">
            <a:solidFill>
              <a:srgbClr val="2B3A5E"/>
            </a:solidFill>
            <a:prstDash val="solid"/>
          </a:ln>
        </p:spPr>
      </p:sp>
      <p:sp>
        <p:nvSpPr>
          <p:cNvPr id="11" name="矩形 10">
            <a:extLst>
              <a:ext uri="{FF2B5EF4-FFF2-40B4-BE49-F238E27FC236}">
                <a16:creationId xmlns="" xmlns:a16="http://schemas.microsoft.com/office/drawing/2014/main" id="{AB0655D2-A904-41A8-8EEC-90636455FD21}"/>
              </a:ext>
            </a:extLst>
          </p:cNvPr>
          <p:cNvSpPr>
            <a:spLocks noGrp="1"/>
          </p:cNvSpPr>
          <p:nvPr/>
        </p:nvSpPr>
        <p:spPr>
          <a:xfrm>
            <a:off x="1143000" y="3952875"/>
            <a:ext cx="1714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19E3C2"/>
                </a:solidFill>
              </a:defRPr>
            </a:pPr>
            <a:r>
              <a:rPr sz="1500" b="1">
                <a:solidFill>
                  <a:srgbClr val="19E3C2"/>
                </a:solidFill>
              </a:rPr>
              <a:t>MockKRW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="" xmlns:a16="http://schemas.microsoft.com/office/drawing/2014/main" id="{44453B0E-ABC9-4AB1-A37E-597E6023D801}"/>
              </a:ext>
            </a:extLst>
          </p:cNvPr>
          <p:cNvSpPr>
            <a:spLocks noGrp="1"/>
          </p:cNvSpPr>
          <p:nvPr/>
        </p:nvSpPr>
        <p:spPr>
          <a:xfrm>
            <a:off x="2952750" y="3962400"/>
            <a:ext cx="7524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F3F7FF"/>
                </a:solidFill>
              </a:defRPr>
            </a:pPr>
            <a:r>
              <a:rPr sz="1350" b="0">
                <a:solidFill>
                  <a:srgbClr val="F3F7FF"/>
                </a:solidFill>
              </a:rPr>
              <a:t>0xaEFDBeaE2d1b140F366da7CB8f075AD5956E3751</a:t>
            </a:r>
          </a:p>
        </p:txBody>
      </p:sp>
      <p:sp>
        <p:nvSpPr>
          <p:cNvPr id="13" name="圆角矩形 12">
            <a:extLst>
              <a:ext uri="{FF2B5EF4-FFF2-40B4-BE49-F238E27FC236}">
                <a16:creationId xmlns="" xmlns:a16="http://schemas.microsoft.com/office/drawing/2014/main" id="{A9459CF7-22D9-4F84-9924-9535F5354D01}"/>
              </a:ext>
            </a:extLst>
          </p:cNvPr>
          <p:cNvSpPr>
            <a:spLocks noGrp="1"/>
          </p:cNvSpPr>
          <p:nvPr/>
        </p:nvSpPr>
        <p:spPr>
          <a:xfrm>
            <a:off x="857250" y="4514850"/>
            <a:ext cx="10287000" cy="495300"/>
          </a:xfrm>
          <a:prstGeom prst="roundRect">
            <a:avLst>
              <a:gd name="adj" fmla="val 15385"/>
            </a:avLst>
          </a:prstGeom>
          <a:solidFill>
            <a:srgbClr val="111827"/>
          </a:solidFill>
          <a:ln w="9525">
            <a:solidFill>
              <a:srgbClr val="2B3A5E"/>
            </a:solidFill>
            <a:prstDash val="solid"/>
          </a:ln>
        </p:spPr>
      </p:sp>
      <p:sp>
        <p:nvSpPr>
          <p:cNvPr id="14" name="矩形 13">
            <a:extLst>
              <a:ext uri="{FF2B5EF4-FFF2-40B4-BE49-F238E27FC236}">
                <a16:creationId xmlns="" xmlns:a16="http://schemas.microsoft.com/office/drawing/2014/main" id="{C05A1AEF-25DC-4C07-A931-8AE3B24F6753}"/>
              </a:ext>
            </a:extLst>
          </p:cNvPr>
          <p:cNvSpPr>
            <a:spLocks noGrp="1"/>
          </p:cNvSpPr>
          <p:nvPr/>
        </p:nvSpPr>
        <p:spPr>
          <a:xfrm>
            <a:off x="1143000" y="4638675"/>
            <a:ext cx="1714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19E3C2"/>
                </a:solidFill>
              </a:defRPr>
            </a:pPr>
            <a:r>
              <a:rPr sz="1500" b="1">
                <a:solidFill>
                  <a:srgbClr val="19E3C2"/>
                </a:solidFill>
              </a:rPr>
              <a:t>BatchTransfer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="" xmlns:a16="http://schemas.microsoft.com/office/drawing/2014/main" id="{B4C33332-6635-4F0E-99A1-4E3B9CA03775}"/>
              </a:ext>
            </a:extLst>
          </p:cNvPr>
          <p:cNvSpPr>
            <a:spLocks noGrp="1"/>
          </p:cNvSpPr>
          <p:nvPr/>
        </p:nvSpPr>
        <p:spPr>
          <a:xfrm>
            <a:off x="2952750" y="4648200"/>
            <a:ext cx="7524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F3F7FF"/>
                </a:solidFill>
              </a:defRPr>
            </a:pPr>
            <a:r>
              <a:rPr sz="1350" b="0">
                <a:solidFill>
                  <a:srgbClr val="F3F7FF"/>
                </a:solidFill>
              </a:rPr>
              <a:t>0x9Ad98ED6936A6bbC0e6364FF4DA088c043d71711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="" xmlns:a16="http://schemas.microsoft.com/office/drawing/2014/main" id="{64A032FE-EB19-4B89-9582-1F3EC81B22D3}"/>
              </a:ext>
            </a:extLst>
          </p:cNvPr>
          <p:cNvSpPr>
            <a:spLocks noGrp="1"/>
          </p:cNvSpPr>
          <p:nvPr/>
        </p:nvSpPr>
        <p:spPr>
          <a:xfrm>
            <a:off x="609600" y="6381750"/>
            <a:ext cx="2476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0">
                <a:solidFill>
                  <a:srgbClr val="9FB2D8"/>
                </a:solidFill>
              </a:defRPr>
            </a:pPr>
            <a:r>
              <a:rPr sz="900" b="0">
                <a:solidFill>
                  <a:srgbClr val="9FB2D8"/>
                </a:solidFill>
              </a:rPr>
              <a:t>DivvyPay / GASOK Demo / 9</a:t>
            </a:r>
          </a:p>
        </p:txBody>
      </p:sp>
    </p:spTree>
    <p:extLst>
      <p:ext uri="{BB962C8B-B14F-4D97-AF65-F5344CB8AC3E}">
        <p14:creationId xmlns:p14="http://schemas.microsoft.com/office/powerpoint/2010/main" val="17210132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>
            <a:extLst>
              <a:ext uri="{FF2B5EF4-FFF2-40B4-BE49-F238E27FC236}">
                <a16:creationId xmlns="" xmlns:a16="http://schemas.microsoft.com/office/drawing/2014/main" id="{76E2C175-EFA4-44B5-9E3E-278BD64421B0}"/>
              </a:ext>
            </a:extLst>
          </p:cNvPr>
          <p:cNvSpPr>
            <a:spLocks noGrp="1"/>
          </p:cNvSpPr>
          <p:nvPr/>
        </p:nvSpPr>
        <p:spPr>
          <a:xfrm>
            <a:off x="3543300" y="2571750"/>
            <a:ext cx="51435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4350" b="1">
                <a:solidFill>
                  <a:srgbClr val="F3F7FF"/>
                </a:solidFill>
              </a:defRPr>
            </a:pPr>
            <a:r>
              <a:rPr sz="4350" b="1">
                <a:solidFill>
                  <a:srgbClr val="F3F7FF"/>
                </a:solidFill>
              </a:rPr>
              <a:t>DivvyPay</a:t>
            </a:r>
          </a:p>
        </p:txBody>
      </p:sp>
      <p:sp>
        <p:nvSpPr>
          <p:cNvPr id="6" name="矩形 5">
            <a:extLst>
              <a:ext uri="{FF2B5EF4-FFF2-40B4-BE49-F238E27FC236}">
                <a16:creationId xmlns="" xmlns:a16="http://schemas.microsoft.com/office/drawing/2014/main" id="{D0EAA2F1-0D2F-4424-A4D8-2496577B50B8}"/>
              </a:ext>
            </a:extLst>
          </p:cNvPr>
          <p:cNvSpPr>
            <a:spLocks noGrp="1"/>
          </p:cNvSpPr>
          <p:nvPr/>
        </p:nvSpPr>
        <p:spPr>
          <a:xfrm>
            <a:off x="2654300" y="3252787"/>
            <a:ext cx="6858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100" b="0">
                <a:solidFill>
                  <a:srgbClr val="9FB2D8"/>
                </a:solidFill>
              </a:defRPr>
            </a:pPr>
            <a:r>
              <a:rPr lang="en-US" altLang="zh-CN" sz="2100" dirty="0"/>
              <a:t>Batch payouts and revenue splits on GIWA.</a:t>
            </a:r>
          </a:p>
          <a:p>
            <a:pPr algn="ctr">
              <a:defRPr sz="2100" b="0">
                <a:solidFill>
                  <a:srgbClr val="9FB2D8"/>
                </a:solidFill>
              </a:defRPr>
            </a:pPr>
            <a:endParaRPr sz="2100" b="0" dirty="0">
              <a:solidFill>
                <a:srgbClr val="9FB2D8"/>
              </a:solidFill>
            </a:endParaRPr>
          </a:p>
        </p:txBody>
      </p:sp>
      <p:sp>
        <p:nvSpPr>
          <p:cNvPr id="7" name="圆角矩形 6">
            <a:extLst>
              <a:ext uri="{FF2B5EF4-FFF2-40B4-BE49-F238E27FC236}">
                <a16:creationId xmlns="" xmlns:a16="http://schemas.microsoft.com/office/drawing/2014/main" id="{BD5D3F82-A664-4215-9FAF-1BE15605EAC5}"/>
              </a:ext>
            </a:extLst>
          </p:cNvPr>
          <p:cNvSpPr>
            <a:spLocks noGrp="1"/>
          </p:cNvSpPr>
          <p:nvPr/>
        </p:nvSpPr>
        <p:spPr>
          <a:xfrm>
            <a:off x="4584700" y="4048125"/>
            <a:ext cx="3048000" cy="323850"/>
          </a:xfrm>
          <a:prstGeom prst="roundRect">
            <a:avLst>
              <a:gd name="adj" fmla="val 50000"/>
            </a:avLst>
          </a:prstGeom>
          <a:solidFill>
            <a:srgbClr val="19E3C2">
              <a:alpha val="13333"/>
            </a:srgbClr>
          </a:solidFill>
          <a:ln w="9525">
            <a:solidFill>
              <a:srgbClr val="19E3C2">
                <a:alpha val="46667"/>
              </a:srgbClr>
            </a:solidFill>
            <a:prstDash val="solid"/>
          </a:ln>
        </p:spPr>
      </p:sp>
      <p:sp>
        <p:nvSpPr>
          <p:cNvPr id="8" name="矩形 7">
            <a:extLst>
              <a:ext uri="{FF2B5EF4-FFF2-40B4-BE49-F238E27FC236}">
                <a16:creationId xmlns="" xmlns:a16="http://schemas.microsoft.com/office/drawing/2014/main" id="{F472AD50-CA08-4702-8DB6-99207C702E11}"/>
              </a:ext>
            </a:extLst>
          </p:cNvPr>
          <p:cNvSpPr>
            <a:spLocks noGrp="1"/>
          </p:cNvSpPr>
          <p:nvPr/>
        </p:nvSpPr>
        <p:spPr>
          <a:xfrm>
            <a:off x="5130800" y="4086225"/>
            <a:ext cx="27432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19E3C2"/>
                </a:solidFill>
              </a:defRPr>
            </a:pPr>
            <a:r>
              <a:rPr sz="1050" b="1" dirty="0">
                <a:solidFill>
                  <a:srgbClr val="19E3C2"/>
                </a:solidFill>
              </a:rPr>
              <a:t>Demo ready on GIWA </a:t>
            </a:r>
            <a:r>
              <a:rPr sz="1050" b="1" dirty="0" err="1">
                <a:solidFill>
                  <a:srgbClr val="19E3C2"/>
                </a:solidFill>
              </a:rPr>
              <a:t>Sepolia</a:t>
            </a:r>
            <a:endParaRPr sz="1050" b="1" dirty="0">
              <a:solidFill>
                <a:srgbClr val="19E3C2"/>
              </a:solidFill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="" xmlns:a16="http://schemas.microsoft.com/office/drawing/2014/main" id="{85DA2BA0-794B-414E-AF34-C8D05507C040}"/>
              </a:ext>
            </a:extLst>
          </p:cNvPr>
          <p:cNvSpPr>
            <a:spLocks noGrp="1"/>
          </p:cNvSpPr>
          <p:nvPr/>
        </p:nvSpPr>
        <p:spPr>
          <a:xfrm>
            <a:off x="4953000" y="5619750"/>
            <a:ext cx="22860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950" b="1">
                <a:solidFill>
                  <a:srgbClr val="19E3C2"/>
                </a:solidFill>
              </a:defRPr>
            </a:pPr>
            <a:r>
              <a:rPr sz="1950" b="1">
                <a:solidFill>
                  <a:srgbClr val="19E3C2"/>
                </a:solidFill>
              </a:rPr>
              <a:t>Thank you</a:t>
            </a:r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78450" y="999468"/>
            <a:ext cx="1473200" cy="14008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901864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459</Words>
  <Application>Microsoft Office PowerPoint</Application>
  <DocSecurity>0</DocSecurity>
  <PresentationFormat>宽屏</PresentationFormat>
  <Paragraphs>113</Paragraphs>
  <Slides>10</Slides>
  <Notes>10</Notes>
  <HiddenSlides>0</HiddenSlides>
  <MMClips>0</MMClips>
  <ScaleCrop>false</ScaleCrop>
  <HeadingPairs>
    <vt:vector size="6" baseType="variant">
      <vt:variant>
        <vt:lpstr>已用的字体</vt:lpstr>
      </vt:variant>
      <vt:variant>
        <vt:i4>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12" baseType="lpstr">
      <vt:lpstr>Calibri</vt:lpstr>
      <vt:lpstr>ChatGPT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Microsoft 帐户</cp:lastModifiedBy>
  <cp:revision>3</cp:revision>
  <dcterms:created xsi:type="dcterms:W3CDTF">2026-07-31T07:50:34Z</dcterms:created>
  <dcterms:modified xsi:type="dcterms:W3CDTF">2026-07-31T08:25:43Z</dcterms:modified>
</cp:coreProperties>
</file>